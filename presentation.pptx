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4610"/>
  </p:normalViewPr>
  <p:slideViewPr>
    <p:cSldViewPr snapToGrid="0" snapToObjects="1">
      <p:cViewPr varScale="1">
        <p:scale>
          <a:sx n="159" d="100"/>
          <a:sy n="159" d="100"/>
        </p:scale>
        <p:origin x="184"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1627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282"/>
        </a:solidFill>
        <a:effectLst/>
      </p:bgPr>
    </p:bg>
    <p:spTree>
      <p:nvGrpSpPr>
        <p:cNvPr id="1" name=""/>
        <p:cNvGrpSpPr/>
        <p:nvPr/>
      </p:nvGrpSpPr>
      <p:grpSpPr>
        <a:xfrm>
          <a:off x="0" y="0"/>
          <a:ext cx="0" cy="0"/>
          <a:chOff x="0" y="0"/>
          <a:chExt cx="0" cy="0"/>
        </a:xfrm>
      </p:grpSpPr>
      <p:sp>
        <p:nvSpPr>
          <p:cNvPr id="2" name="Text 0"/>
          <p:cNvSpPr/>
          <p:nvPr/>
        </p:nvSpPr>
        <p:spPr>
          <a:xfrm>
            <a:off x="914400" y="640080"/>
            <a:ext cx="7315200" cy="16459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Fiscal Hawkishness and</a:t>
            </a:r>
            <a:endParaRPr lang="en-US" sz="3000" dirty="0"/>
          </a:p>
          <a:p>
            <a:pPr marL="0" indent="0" algn="ctr">
              <a:buNone/>
            </a:pPr>
            <a:r>
              <a:rPr lang="en-US" sz="3000" b="1" dirty="0">
                <a:solidFill>
                  <a:srgbClr val="FFFFFF"/>
                </a:solidFill>
                <a:latin typeface="Calibri" pitchFamily="34" charset="0"/>
                <a:ea typeface="Calibri" pitchFamily="34" charset="-122"/>
                <a:cs typeface="Calibri" pitchFamily="34" charset="-120"/>
              </a:rPr>
              <a:t>Inflation Expectations in Argentina</a:t>
            </a:r>
            <a:endParaRPr lang="en-US" sz="3000" dirty="0"/>
          </a:p>
          <a:p>
            <a:pPr marL="0" indent="0" algn="ctr">
              <a:buNone/>
            </a:pPr>
            <a:r>
              <a:rPr lang="en-US" sz="3000" b="1" dirty="0">
                <a:solidFill>
                  <a:srgbClr val="FFFFFF"/>
                </a:solidFill>
                <a:latin typeface="Calibri" pitchFamily="34" charset="0"/>
                <a:ea typeface="Calibri" pitchFamily="34" charset="-122"/>
                <a:cs typeface="Calibri" pitchFamily="34" charset="-120"/>
              </a:rPr>
              <a:t>(2015–2026)</a:t>
            </a:r>
            <a:endParaRPr lang="en-US" sz="3000" dirty="0"/>
          </a:p>
        </p:txBody>
      </p:sp>
      <p:sp>
        <p:nvSpPr>
          <p:cNvPr id="3" name="Text 1"/>
          <p:cNvSpPr/>
          <p:nvPr/>
        </p:nvSpPr>
        <p:spPr>
          <a:xfrm>
            <a:off x="1371600" y="2240280"/>
            <a:ext cx="6400800" cy="365760"/>
          </a:xfrm>
          <a:prstGeom prst="rect">
            <a:avLst/>
          </a:prstGeom>
          <a:noFill/>
          <a:ln/>
        </p:spPr>
        <p:txBody>
          <a:bodyPr wrap="square" rtlCol="0" anchor="ctr"/>
          <a:lstStyle/>
          <a:p>
            <a:pPr marL="0" indent="0" algn="ctr">
              <a:buNone/>
            </a:pPr>
            <a:r>
              <a:rPr lang="en-US" sz="1400" i="1" dirty="0">
                <a:solidFill>
                  <a:srgbClr val="EBF4FF"/>
                </a:solidFill>
                <a:latin typeface="Calibri" pitchFamily="34" charset="0"/>
                <a:ea typeface="Calibri" pitchFamily="34" charset="-122"/>
                <a:cs typeface="Calibri" pitchFamily="34" charset="-120"/>
              </a:rPr>
              <a:t>NLP Signal Construction  ·  Local Projections  ·  BVAR</a:t>
            </a:r>
            <a:endParaRPr lang="en-US" sz="1400" dirty="0"/>
          </a:p>
        </p:txBody>
      </p:sp>
      <p:sp>
        <p:nvSpPr>
          <p:cNvPr id="4" name="Shape 2"/>
          <p:cNvSpPr/>
          <p:nvPr/>
        </p:nvSpPr>
        <p:spPr>
          <a:xfrm>
            <a:off x="2286000" y="2788920"/>
            <a:ext cx="4572000" cy="0"/>
          </a:xfrm>
          <a:prstGeom prst="line">
            <a:avLst/>
          </a:prstGeom>
          <a:noFill/>
          <a:ln w="12700">
            <a:solidFill>
              <a:srgbClr val="FFFFFF"/>
            </a:solidFill>
            <a:prstDash val="solid"/>
          </a:ln>
        </p:spPr>
        <p:txBody>
          <a:bodyPr/>
          <a:lstStyle/>
          <a:p>
            <a:endParaRPr lang="en-US"/>
          </a:p>
        </p:txBody>
      </p:sp>
      <p:sp>
        <p:nvSpPr>
          <p:cNvPr id="5" name="Text 3"/>
          <p:cNvSpPr/>
          <p:nvPr/>
        </p:nvSpPr>
        <p:spPr>
          <a:xfrm>
            <a:off x="914400" y="2971800"/>
            <a:ext cx="731520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Rayyaan Kazi    Oliver Eviston    Carlos Rubiano</a:t>
            </a:r>
            <a:endParaRPr lang="en-US" sz="1600" dirty="0"/>
          </a:p>
        </p:txBody>
      </p:sp>
      <p:sp>
        <p:nvSpPr>
          <p:cNvPr id="6" name="Text 4"/>
          <p:cNvSpPr/>
          <p:nvPr/>
        </p:nvSpPr>
        <p:spPr>
          <a:xfrm>
            <a:off x="1371600" y="3474720"/>
            <a:ext cx="6400800" cy="320040"/>
          </a:xfrm>
          <a:prstGeom prst="rect">
            <a:avLst/>
          </a:prstGeom>
          <a:noFill/>
          <a:ln/>
        </p:spPr>
        <p:txBody>
          <a:bodyPr wrap="square" rtlCol="0" anchor="ctr"/>
          <a:lstStyle/>
          <a:p>
            <a:pPr marL="0" indent="0" algn="ctr">
              <a:buNone/>
            </a:pPr>
            <a:r>
              <a:rPr lang="en-US" sz="1100" dirty="0">
                <a:solidFill>
                  <a:srgbClr val="EBF4FF"/>
                </a:solidFill>
                <a:latin typeface="Calibri" pitchFamily="34" charset="0"/>
                <a:ea typeface="Calibri" pitchFamily="34" charset="-122"/>
                <a:cs typeface="Calibri" pitchFamily="34" charset="-120"/>
              </a:rPr>
              <a:t>Barcelona School of Economics  ·  Masters Thesis  ·  May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 y="59436"/>
            <a:ext cx="9144000" cy="475488"/>
          </a:xfrm>
          <a:prstGeom prst="rect">
            <a:avLst/>
          </a:prstGeom>
          <a:solidFill>
            <a:srgbClr val="2C5282"/>
          </a:solidFill>
          <a:ln w="12700">
            <a:solidFill>
              <a:srgbClr val="2C5282"/>
            </a:solidFill>
            <a:prstDash val="solid"/>
          </a:ln>
        </p:spPr>
        <p:txBody>
          <a:bodyPr/>
          <a:lstStyle/>
          <a:p>
            <a:endParaRPr lang="en-US"/>
          </a:p>
        </p:txBody>
      </p:sp>
      <p:sp>
        <p:nvSpPr>
          <p:cNvPr id="3" name="Text 1"/>
          <p:cNvSpPr/>
          <p:nvPr/>
        </p:nvSpPr>
        <p:spPr>
          <a:xfrm>
            <a:off x="274320" y="0"/>
            <a:ext cx="868680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Motivation &amp; Country Context</a:t>
            </a:r>
            <a:endParaRPr lang="en-US" sz="1600" dirty="0"/>
          </a:p>
        </p:txBody>
      </p:sp>
      <p:sp>
        <p:nvSpPr>
          <p:cNvPr id="4" name="Text 2"/>
          <p:cNvSpPr/>
          <p:nvPr/>
        </p:nvSpPr>
        <p:spPr>
          <a:xfrm>
            <a:off x="274320" y="4901184"/>
            <a:ext cx="6858000" cy="182880"/>
          </a:xfrm>
          <a:prstGeom prst="rect">
            <a:avLst/>
          </a:prstGeom>
          <a:noFill/>
          <a:ln/>
        </p:spPr>
        <p:txBody>
          <a:bodyPr wrap="square" rtlCol="0" anchor="ctr"/>
          <a:lstStyle/>
          <a:p>
            <a:pPr marL="0" indent="0">
              <a:buNone/>
            </a:pPr>
            <a:r>
              <a:rPr lang="en-US" sz="750" dirty="0">
                <a:solidFill>
                  <a:srgbClr val="718096"/>
                </a:solidFill>
                <a:latin typeface="Calibri" pitchFamily="34" charset="0"/>
                <a:ea typeface="Calibri" pitchFamily="34" charset="-122"/>
                <a:cs typeface="Calibri" pitchFamily="34" charset="-120"/>
              </a:rPr>
              <a:t>Kazi, Eviston, Rubiano  ·  BSE Masters 2026</a:t>
            </a:r>
            <a:endParaRPr lang="en-US" sz="750" dirty="0"/>
          </a:p>
        </p:txBody>
      </p:sp>
      <p:sp>
        <p:nvSpPr>
          <p:cNvPr id="5" name="Text 3"/>
          <p:cNvSpPr/>
          <p:nvPr/>
        </p:nvSpPr>
        <p:spPr>
          <a:xfrm>
            <a:off x="8046720" y="4901184"/>
            <a:ext cx="914400" cy="182880"/>
          </a:xfrm>
          <a:prstGeom prst="rect">
            <a:avLst/>
          </a:prstGeom>
          <a:noFill/>
          <a:ln/>
        </p:spPr>
        <p:txBody>
          <a:bodyPr wrap="square" rtlCol="0" anchor="ctr"/>
          <a:lstStyle/>
          <a:p>
            <a:pPr marL="0" indent="0" algn="r">
              <a:buNone/>
            </a:pPr>
            <a:r>
              <a:rPr lang="en-US" sz="750" dirty="0">
                <a:solidFill>
                  <a:srgbClr val="718096"/>
                </a:solidFill>
                <a:latin typeface="Calibri" pitchFamily="34" charset="0"/>
                <a:ea typeface="Calibri" pitchFamily="34" charset="-122"/>
                <a:cs typeface="Calibri" pitchFamily="34" charset="-120"/>
              </a:rPr>
              <a:t>2 / 12</a:t>
            </a:r>
            <a:endParaRPr lang="en-US" sz="750" dirty="0"/>
          </a:p>
        </p:txBody>
      </p:sp>
      <p:sp>
        <p:nvSpPr>
          <p:cNvPr id="6" name="Text 4"/>
          <p:cNvSpPr/>
          <p:nvPr/>
        </p:nvSpPr>
        <p:spPr>
          <a:xfrm>
            <a:off x="274320" y="576072"/>
            <a:ext cx="402336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Research question</a:t>
            </a:r>
            <a:endParaRPr lang="en-US" sz="1100" dirty="0"/>
          </a:p>
        </p:txBody>
      </p:sp>
      <p:sp>
        <p:nvSpPr>
          <p:cNvPr id="7" name="Text 5"/>
          <p:cNvSpPr/>
          <p:nvPr/>
        </p:nvSpPr>
        <p:spPr>
          <a:xfrm>
            <a:off x="274320" y="841248"/>
            <a:ext cx="4023360" cy="640080"/>
          </a:xfrm>
          <a:prstGeom prst="rect">
            <a:avLst/>
          </a:prstGeom>
          <a:noFill/>
          <a:ln/>
        </p:spPr>
        <p:txBody>
          <a:bodyPr wrap="square" rtlCol="0" anchor="t"/>
          <a:lstStyle/>
          <a:p>
            <a:pPr marL="0" indent="0">
              <a:buNone/>
            </a:pPr>
            <a:r>
              <a:rPr lang="en-US" sz="1000" dirty="0">
                <a:solidFill>
                  <a:srgbClr val="1A202C"/>
                </a:solidFill>
                <a:latin typeface="Calibri" pitchFamily="34" charset="0"/>
                <a:ea typeface="Calibri" pitchFamily="34" charset="-122"/>
                <a:cs typeface="Calibri" pitchFamily="34" charset="-120"/>
              </a:rPr>
              <a:t>Does the fiscal-hawkishness content of presidential communication causally shift inflation expectations in Argentina and has the pass-through changed under Milei?</a:t>
            </a:r>
            <a:endParaRPr lang="en-US" sz="1000" dirty="0"/>
          </a:p>
        </p:txBody>
      </p:sp>
      <p:sp>
        <p:nvSpPr>
          <p:cNvPr id="8" name="Text 6"/>
          <p:cNvSpPr/>
          <p:nvPr/>
        </p:nvSpPr>
        <p:spPr>
          <a:xfrm>
            <a:off x="274320" y="1508760"/>
            <a:ext cx="402336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Why Argentina?</a:t>
            </a:r>
            <a:endParaRPr lang="en-US" sz="1100" dirty="0"/>
          </a:p>
        </p:txBody>
      </p:sp>
      <p:sp>
        <p:nvSpPr>
          <p:cNvPr id="9" name="Text 7"/>
          <p:cNvSpPr/>
          <p:nvPr/>
        </p:nvSpPr>
        <p:spPr>
          <a:xfrm>
            <a:off x="274320" y="1783080"/>
            <a:ext cx="4023360" cy="1737360"/>
          </a:xfrm>
          <a:prstGeom prst="rect">
            <a:avLst/>
          </a:prstGeom>
          <a:noFill/>
          <a:ln/>
        </p:spPr>
        <p:txBody>
          <a:bodyPr wrap="square" rtlCol="0" anchor="t"/>
          <a:lstStyle/>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Extreme inflation volatility (7% → 290% annual)</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Three very distinct fiscal regimes:</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  Macri 2015–19: gradual consolidation</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  Fernández 2019–23: expansion / IMF</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  Milei 2023–26: shock austerity</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Expectation anchoring central to policy debate</a:t>
            </a:r>
            <a:endParaRPr lang="en-US" sz="1000" dirty="0"/>
          </a:p>
        </p:txBody>
      </p:sp>
      <p:sp>
        <p:nvSpPr>
          <p:cNvPr id="10" name="Text 8"/>
          <p:cNvSpPr/>
          <p:nvPr/>
        </p:nvSpPr>
        <p:spPr>
          <a:xfrm>
            <a:off x="274320" y="3566160"/>
            <a:ext cx="402336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Theoretical link</a:t>
            </a:r>
            <a:endParaRPr lang="en-US" sz="1100" dirty="0"/>
          </a:p>
        </p:txBody>
      </p:sp>
      <p:sp>
        <p:nvSpPr>
          <p:cNvPr id="11" name="Text 9"/>
          <p:cNvSpPr/>
          <p:nvPr/>
        </p:nvSpPr>
        <p:spPr>
          <a:xfrm>
            <a:off x="274320" y="3840480"/>
            <a:ext cx="4023360" cy="685800"/>
          </a:xfrm>
          <a:prstGeom prst="rect">
            <a:avLst/>
          </a:prstGeom>
          <a:noFill/>
          <a:ln/>
        </p:spPr>
        <p:txBody>
          <a:bodyPr wrap="square" rtlCol="0" anchor="t"/>
          <a:lstStyle/>
          <a:p>
            <a:pPr marL="0" indent="0">
              <a:buNone/>
            </a:pPr>
            <a:r>
              <a:rPr lang="en-US" sz="1000" dirty="0">
                <a:solidFill>
                  <a:srgbClr val="1A202C"/>
                </a:solidFill>
                <a:latin typeface="Calibri" pitchFamily="34" charset="0"/>
                <a:ea typeface="Calibri" pitchFamily="34" charset="-122"/>
                <a:cs typeface="Calibri" pitchFamily="34" charset="-120"/>
              </a:rPr>
              <a:t>Communication moves expectations more when speaker credibility makes rational deception implausible — arguably satisfied post-Dec 2023.</a:t>
            </a:r>
            <a:endParaRPr lang="en-US" sz="1000" dirty="0"/>
          </a:p>
        </p:txBody>
      </p:sp>
      <p:sp>
        <p:nvSpPr>
          <p:cNvPr id="12" name="Shape 10"/>
          <p:cNvSpPr/>
          <p:nvPr/>
        </p:nvSpPr>
        <p:spPr>
          <a:xfrm>
            <a:off x="4617720" y="576072"/>
            <a:ext cx="4251960" cy="4224528"/>
          </a:xfrm>
          <a:prstGeom prst="rect">
            <a:avLst/>
          </a:prstGeom>
          <a:solidFill>
            <a:srgbClr val="EBF4FF"/>
          </a:solidFill>
          <a:ln w="12700">
            <a:solidFill>
              <a:srgbClr val="2C5282"/>
            </a:solidFill>
            <a:prstDash val="solid"/>
          </a:ln>
        </p:spPr>
        <p:txBody>
          <a:bodyPr/>
          <a:lstStyle/>
          <a:p>
            <a:endParaRPr lang="en-US"/>
          </a:p>
        </p:txBody>
      </p:sp>
      <p:sp>
        <p:nvSpPr>
          <p:cNvPr id="13" name="Shape 11"/>
          <p:cNvSpPr/>
          <p:nvPr/>
        </p:nvSpPr>
        <p:spPr>
          <a:xfrm>
            <a:off x="4617720" y="576072"/>
            <a:ext cx="4251960" cy="246888"/>
          </a:xfrm>
          <a:prstGeom prst="rect">
            <a:avLst/>
          </a:prstGeom>
          <a:solidFill>
            <a:srgbClr val="2C5282"/>
          </a:solidFill>
          <a:ln w="12700">
            <a:solidFill>
              <a:srgbClr val="2C5282"/>
            </a:solidFill>
            <a:prstDash val="solid"/>
          </a:ln>
        </p:spPr>
        <p:txBody>
          <a:bodyPr/>
          <a:lstStyle/>
          <a:p>
            <a:endParaRPr lang="en-US"/>
          </a:p>
        </p:txBody>
      </p:sp>
      <p:sp>
        <p:nvSpPr>
          <p:cNvPr id="14" name="Text 12"/>
          <p:cNvSpPr/>
          <p:nvPr/>
        </p:nvSpPr>
        <p:spPr>
          <a:xfrm>
            <a:off x="4709160" y="576072"/>
            <a:ext cx="4069080" cy="24688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Inflation &amp; Expectations — Argentina</a:t>
            </a:r>
            <a:endParaRPr lang="en-US" sz="900" dirty="0"/>
          </a:p>
        </p:txBody>
      </p:sp>
      <p:sp>
        <p:nvSpPr>
          <p:cNvPr id="15" name="Text 13"/>
          <p:cNvSpPr/>
          <p:nvPr/>
        </p:nvSpPr>
        <p:spPr>
          <a:xfrm>
            <a:off x="4709160" y="841248"/>
            <a:ext cx="4069080" cy="3922776"/>
          </a:xfrm>
          <a:prstGeom prst="rect">
            <a:avLst/>
          </a:prstGeom>
          <a:noFill/>
          <a:ln/>
        </p:spPr>
        <p:txBody>
          <a:bodyPr wrap="square" rtlCol="0" anchor="t"/>
          <a:lstStyle/>
          <a:p>
            <a:pPr marL="0" indent="0">
              <a:buNone/>
            </a:pPr>
            <a:endParaRPr lang="en-US" sz="900" dirty="0"/>
          </a:p>
        </p:txBody>
      </p:sp>
      <p:sp>
        <p:nvSpPr>
          <p:cNvPr id="16" name="Shape 14"/>
          <p:cNvSpPr/>
          <p:nvPr/>
        </p:nvSpPr>
        <p:spPr>
          <a:xfrm>
            <a:off x="4617720" y="914400"/>
            <a:ext cx="4251960" cy="3794760"/>
          </a:xfrm>
          <a:prstGeom prst="rect">
            <a:avLst/>
          </a:prstGeom>
          <a:solidFill>
            <a:srgbClr val="EBF4FF"/>
          </a:solidFill>
          <a:ln w="12700">
            <a:solidFill>
              <a:srgbClr val="2C5282"/>
            </a:solidFill>
            <a:prstDash val="dash"/>
          </a:ln>
        </p:spPr>
        <p:txBody>
          <a:bodyPr/>
          <a:lstStyle/>
          <a:p>
            <a:endParaRPr lang="en-US"/>
          </a:p>
        </p:txBody>
      </p:sp>
      <p:sp>
        <p:nvSpPr>
          <p:cNvPr id="17" name="Text 15"/>
          <p:cNvSpPr/>
          <p:nvPr/>
        </p:nvSpPr>
        <p:spPr>
          <a:xfrm>
            <a:off x="4617720" y="914400"/>
            <a:ext cx="4251960" cy="3794760"/>
          </a:xfrm>
          <a:prstGeom prst="rect">
            <a:avLst/>
          </a:prstGeom>
          <a:noFill/>
          <a:ln/>
        </p:spPr>
        <p:txBody>
          <a:bodyPr wrap="square" rtlCol="0" anchor="ctr"/>
          <a:lstStyle/>
          <a:p>
            <a:pPr marL="0" indent="0" algn="ctr">
              <a:buNone/>
            </a:pPr>
            <a:r>
              <a:rPr lang="en-US" sz="900" i="1" dirty="0">
                <a:solidFill>
                  <a:srgbClr val="4A5568"/>
                </a:solidFill>
                <a:latin typeface="Calibri" pitchFamily="34" charset="0"/>
                <a:ea typeface="Calibri" pitchFamily="34" charset="-122"/>
                <a:cs typeface="Calibri" pitchFamily="34" charset="-120"/>
              </a:rPr>
              <a:t>[Insert: monthly CPI inflation</a:t>
            </a:r>
            <a:endParaRPr lang="en-US" sz="900" dirty="0"/>
          </a:p>
          <a:p>
            <a:pPr marL="0" indent="0" algn="ctr">
              <a:buNone/>
            </a:pPr>
            <a:r>
              <a:rPr lang="en-US" sz="900" i="1" dirty="0">
                <a:solidFill>
                  <a:srgbClr val="4A5568"/>
                </a:solidFill>
                <a:latin typeface="Calibri" pitchFamily="34" charset="0"/>
                <a:ea typeface="Calibri" pitchFamily="34" charset="-122"/>
                <a:cs typeface="Calibri" pitchFamily="34" charset="-120"/>
              </a:rPr>
              <a:t>and REM 12m expectations chart]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2C5282"/>
          </a:solidFill>
          <a:ln w="12700">
            <a:solidFill>
              <a:srgbClr val="2C5282"/>
            </a:solidFill>
            <a:prstDash val="solid"/>
          </a:ln>
        </p:spPr>
        <p:txBody>
          <a:bodyPr/>
          <a:lstStyle/>
          <a:p>
            <a:endParaRPr lang="en-US"/>
          </a:p>
        </p:txBody>
      </p:sp>
      <p:sp>
        <p:nvSpPr>
          <p:cNvPr id="3" name="Text 1"/>
          <p:cNvSpPr/>
          <p:nvPr/>
        </p:nvSpPr>
        <p:spPr>
          <a:xfrm>
            <a:off x="274320" y="0"/>
            <a:ext cx="868680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Signal Construction I — Corpus &amp; Scraping</a:t>
            </a:r>
            <a:endParaRPr lang="en-US" sz="1600" dirty="0"/>
          </a:p>
        </p:txBody>
      </p:sp>
      <p:sp>
        <p:nvSpPr>
          <p:cNvPr id="4" name="Text 2"/>
          <p:cNvSpPr/>
          <p:nvPr/>
        </p:nvSpPr>
        <p:spPr>
          <a:xfrm>
            <a:off x="274320" y="4901184"/>
            <a:ext cx="6858000" cy="182880"/>
          </a:xfrm>
          <a:prstGeom prst="rect">
            <a:avLst/>
          </a:prstGeom>
          <a:noFill/>
          <a:ln/>
        </p:spPr>
        <p:txBody>
          <a:bodyPr wrap="square" rtlCol="0" anchor="ctr"/>
          <a:lstStyle/>
          <a:p>
            <a:pPr marL="0" indent="0">
              <a:buNone/>
            </a:pPr>
            <a:r>
              <a:rPr lang="en-US" sz="750" dirty="0">
                <a:solidFill>
                  <a:srgbClr val="718096"/>
                </a:solidFill>
                <a:latin typeface="Calibri" pitchFamily="34" charset="0"/>
                <a:ea typeface="Calibri" pitchFamily="34" charset="-122"/>
                <a:cs typeface="Calibri" pitchFamily="34" charset="-120"/>
              </a:rPr>
              <a:t>Kazi, Eviston, Rubiano  ·  BSE Masters 2026</a:t>
            </a:r>
            <a:endParaRPr lang="en-US" sz="750" dirty="0"/>
          </a:p>
        </p:txBody>
      </p:sp>
      <p:sp>
        <p:nvSpPr>
          <p:cNvPr id="5" name="Text 3"/>
          <p:cNvSpPr/>
          <p:nvPr/>
        </p:nvSpPr>
        <p:spPr>
          <a:xfrm>
            <a:off x="8046720" y="4901184"/>
            <a:ext cx="914400" cy="182880"/>
          </a:xfrm>
          <a:prstGeom prst="rect">
            <a:avLst/>
          </a:prstGeom>
          <a:noFill/>
          <a:ln/>
        </p:spPr>
        <p:txBody>
          <a:bodyPr wrap="square" rtlCol="0" anchor="ctr"/>
          <a:lstStyle/>
          <a:p>
            <a:pPr marL="0" indent="0" algn="r">
              <a:buNone/>
            </a:pPr>
            <a:r>
              <a:rPr lang="en-US" sz="750" dirty="0">
                <a:solidFill>
                  <a:srgbClr val="718096"/>
                </a:solidFill>
                <a:latin typeface="Calibri" pitchFamily="34" charset="0"/>
                <a:ea typeface="Calibri" pitchFamily="34" charset="-122"/>
                <a:cs typeface="Calibri" pitchFamily="34" charset="-120"/>
              </a:rPr>
              <a:t>3 / 12</a:t>
            </a:r>
            <a:endParaRPr lang="en-US" sz="750" dirty="0"/>
          </a:p>
        </p:txBody>
      </p:sp>
      <p:sp>
        <p:nvSpPr>
          <p:cNvPr id="6" name="Text 4"/>
          <p:cNvSpPr/>
          <p:nvPr/>
        </p:nvSpPr>
        <p:spPr>
          <a:xfrm>
            <a:off x="274320" y="576072"/>
            <a:ext cx="411480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Corpus</a:t>
            </a:r>
            <a:endParaRPr lang="en-US" sz="1100" dirty="0"/>
          </a:p>
        </p:txBody>
      </p:sp>
      <p:sp>
        <p:nvSpPr>
          <p:cNvPr id="7" name="Text 5"/>
          <p:cNvSpPr/>
          <p:nvPr/>
        </p:nvSpPr>
        <p:spPr>
          <a:xfrm>
            <a:off x="274320" y="850392"/>
            <a:ext cx="4114800" cy="960120"/>
          </a:xfrm>
          <a:prstGeom prst="rect">
            <a:avLst/>
          </a:prstGeom>
          <a:noFill/>
          <a:ln/>
        </p:spPr>
        <p:txBody>
          <a:bodyPr wrap="square" rtlCol="0" anchor="t"/>
          <a:lstStyle/>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1,498 speeches, 16,197 paragraphs, three presidents</a:t>
            </a:r>
            <a:endParaRPr lang="en-US" sz="1000" dirty="0"/>
          </a:p>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Sources: Casa Rosada archive; YouTube transcripts; official transcripts for Davos, CPAC, UN General Assembly</a:t>
            </a:r>
            <a:endParaRPr lang="en-US" sz="1000" dirty="0"/>
          </a:p>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Monthly coverage: Dec 2015 – Apr 2026 (125 obs.)</a:t>
            </a:r>
            <a:endParaRPr lang="en-US" sz="1000" dirty="0"/>
          </a:p>
        </p:txBody>
      </p:sp>
      <p:sp>
        <p:nvSpPr>
          <p:cNvPr id="8" name="Text 6"/>
          <p:cNvSpPr/>
          <p:nvPr/>
        </p:nvSpPr>
        <p:spPr>
          <a:xfrm>
            <a:off x="274320" y="1856232"/>
            <a:ext cx="411480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Speech volume by president</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274320" y="2130552"/>
          <a:ext cx="4023360" cy="914400"/>
        </p:xfrm>
        <a:graphic>
          <a:graphicData uri="http://schemas.openxmlformats.org/drawingml/2006/table">
            <a:tbl>
              <a:tblPr/>
              <a:tblGrid>
                <a:gridCol w="10058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274320">
                <a:tc>
                  <a:txBody>
                    <a:bodyPr/>
                    <a:lstStyle/>
                    <a:p>
                      <a:pPr marL="0" indent="0">
                        <a:buNone/>
                      </a:pP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282"/>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Speeches/mo</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282"/>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Para/mo</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282"/>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Fiscal%</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282"/>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Macri</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13.4</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107</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16.6%</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AF</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12.8</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133</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18.2%</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Milei</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162</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b="1" dirty="0">
                          <a:solidFill>
                            <a:srgbClr val="C53030"/>
                          </a:solidFill>
                          <a:latin typeface="Calibri" pitchFamily="34" charset="0"/>
                          <a:ea typeface="Calibri" pitchFamily="34" charset="-122"/>
                          <a:cs typeface="Calibri" pitchFamily="34" charset="-120"/>
                        </a:rPr>
                        <a:t>40.4%</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Text 7"/>
          <p:cNvSpPr/>
          <p:nvPr/>
        </p:nvSpPr>
        <p:spPr>
          <a:xfrm>
            <a:off x="274320" y="3200400"/>
            <a:ext cx="411480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Preprocessing</a:t>
            </a:r>
            <a:endParaRPr lang="en-US" sz="1100" dirty="0"/>
          </a:p>
        </p:txBody>
      </p:sp>
      <p:sp>
        <p:nvSpPr>
          <p:cNvPr id="11" name="Text 8"/>
          <p:cNvSpPr/>
          <p:nvPr/>
        </p:nvSpPr>
        <p:spPr>
          <a:xfrm>
            <a:off x="274320" y="3474720"/>
            <a:ext cx="4114800" cy="777240"/>
          </a:xfrm>
          <a:prstGeom prst="rect">
            <a:avLst/>
          </a:prstGeom>
          <a:noFill/>
          <a:ln/>
        </p:spPr>
        <p:txBody>
          <a:bodyPr wrap="square" rtlCol="0" anchor="t"/>
          <a:lstStyle/>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Spanish NLP: spaCy es_core_news_lg</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Sentence segmentation, lowercasing, accent normalisation</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Boilerplate removal (salutations, applause markers)</a:t>
            </a:r>
            <a:endParaRPr lang="en-US" sz="1000" dirty="0"/>
          </a:p>
        </p:txBody>
      </p:sp>
      <p:sp>
        <p:nvSpPr>
          <p:cNvPr id="12" name="Shape 9"/>
          <p:cNvSpPr/>
          <p:nvPr/>
        </p:nvSpPr>
        <p:spPr>
          <a:xfrm>
            <a:off x="4572000" y="576072"/>
            <a:ext cx="4297680" cy="1325880"/>
          </a:xfrm>
          <a:prstGeom prst="rect">
            <a:avLst/>
          </a:prstGeom>
          <a:solidFill>
            <a:srgbClr val="FED7D7"/>
          </a:solidFill>
          <a:ln w="12700">
            <a:solidFill>
              <a:srgbClr val="C53030"/>
            </a:solidFill>
            <a:prstDash val="solid"/>
          </a:ln>
        </p:spPr>
        <p:txBody>
          <a:bodyPr/>
          <a:lstStyle/>
          <a:p>
            <a:endParaRPr lang="en-US"/>
          </a:p>
        </p:txBody>
      </p:sp>
      <p:sp>
        <p:nvSpPr>
          <p:cNvPr id="13" name="Shape 10"/>
          <p:cNvSpPr/>
          <p:nvPr/>
        </p:nvSpPr>
        <p:spPr>
          <a:xfrm>
            <a:off x="4572000" y="576072"/>
            <a:ext cx="4297680" cy="246888"/>
          </a:xfrm>
          <a:prstGeom prst="rect">
            <a:avLst/>
          </a:prstGeom>
          <a:solidFill>
            <a:srgbClr val="C53030"/>
          </a:solidFill>
          <a:ln w="12700">
            <a:solidFill>
              <a:srgbClr val="C53030"/>
            </a:solidFill>
            <a:prstDash val="solid"/>
          </a:ln>
        </p:spPr>
        <p:txBody>
          <a:bodyPr/>
          <a:lstStyle/>
          <a:p>
            <a:endParaRPr lang="en-US"/>
          </a:p>
        </p:txBody>
      </p:sp>
      <p:sp>
        <p:nvSpPr>
          <p:cNvPr id="14" name="Text 11"/>
          <p:cNvSpPr/>
          <p:nvPr/>
        </p:nvSpPr>
        <p:spPr>
          <a:xfrm>
            <a:off x="4663440" y="576072"/>
            <a:ext cx="4114800" cy="24688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Key design choice</a:t>
            </a:r>
            <a:endParaRPr lang="en-US" sz="900" dirty="0"/>
          </a:p>
        </p:txBody>
      </p:sp>
      <p:sp>
        <p:nvSpPr>
          <p:cNvPr id="15" name="Text 12"/>
          <p:cNvSpPr/>
          <p:nvPr/>
        </p:nvSpPr>
        <p:spPr>
          <a:xfrm>
            <a:off x="4663440" y="841248"/>
            <a:ext cx="4114800" cy="1024128"/>
          </a:xfrm>
          <a:prstGeom prst="rect">
            <a:avLst/>
          </a:prstGeom>
          <a:noFill/>
          <a:ln/>
        </p:spPr>
        <p:txBody>
          <a:bodyPr wrap="square" rtlCol="0" anchor="t"/>
          <a:lstStyle/>
          <a:p>
            <a:pPr marL="0" indent="0">
              <a:buNone/>
            </a:pPr>
            <a:r>
              <a:rPr lang="en-US" sz="900" dirty="0">
                <a:solidFill>
                  <a:srgbClr val="1A202C"/>
                </a:solidFill>
                <a:latin typeface="Calibri" pitchFamily="34" charset="0"/>
                <a:ea typeface="Calibri" pitchFamily="34" charset="-122"/>
                <a:cs typeface="Calibri" pitchFamily="34" charset="-120"/>
              </a:rPr>
              <a:t>Milei gives fewer speeches but at 6.5× higher fiscal density than Macri/AF. The signal measures fiscal discourse intensity, not speech volume.</a:t>
            </a:r>
            <a:endParaRPr lang="en-US" sz="900" dirty="0"/>
          </a:p>
        </p:txBody>
      </p:sp>
      <p:sp>
        <p:nvSpPr>
          <p:cNvPr id="16" name="Text 13"/>
          <p:cNvSpPr/>
          <p:nvPr/>
        </p:nvSpPr>
        <p:spPr>
          <a:xfrm>
            <a:off x="4572000" y="1993392"/>
            <a:ext cx="429768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International speeches</a:t>
            </a:r>
            <a:endParaRPr lang="en-US" sz="1100" dirty="0"/>
          </a:p>
        </p:txBody>
      </p:sp>
      <p:sp>
        <p:nvSpPr>
          <p:cNvPr id="17" name="Text 14"/>
          <p:cNvSpPr/>
          <p:nvPr/>
        </p:nvSpPr>
        <p:spPr>
          <a:xfrm>
            <a:off x="4572000" y="2267712"/>
            <a:ext cx="4297680" cy="1005840"/>
          </a:xfrm>
          <a:prstGeom prst="rect">
            <a:avLst/>
          </a:prstGeom>
          <a:noFill/>
          <a:ln/>
        </p:spPr>
        <p:txBody>
          <a:bodyPr wrap="square" rtlCol="0" anchor="t"/>
          <a:lstStyle/>
          <a:p>
            <a:pPr marL="0" indent="0">
              <a:buNone/>
            </a:pPr>
            <a:r>
              <a:rPr lang="en-US" sz="1000" dirty="0">
                <a:solidFill>
                  <a:srgbClr val="1A202C"/>
                </a:solidFill>
                <a:latin typeface="Calibri" pitchFamily="34" charset="0"/>
                <a:ea typeface="Calibri" pitchFamily="34" charset="-122"/>
                <a:cs typeface="Calibri" pitchFamily="34" charset="-120"/>
              </a:rPr>
              <a:t>Davos WEF Jan 2024, CPAC 2024, UN General Assembly, IMF Article IV press conferences — critical for capturing Milei’s ideological hawkishness that domestic appearances miss.</a:t>
            </a:r>
            <a:endParaRPr lang="en-US" sz="1000" dirty="0"/>
          </a:p>
        </p:txBody>
      </p:sp>
      <p:sp>
        <p:nvSpPr>
          <p:cNvPr id="18" name="Shape 15"/>
          <p:cNvSpPr/>
          <p:nvPr/>
        </p:nvSpPr>
        <p:spPr>
          <a:xfrm>
            <a:off x="4572000" y="3364992"/>
            <a:ext cx="4297680" cy="1097280"/>
          </a:xfrm>
          <a:prstGeom prst="rect">
            <a:avLst/>
          </a:prstGeom>
          <a:solidFill>
            <a:srgbClr val="EBF4FF"/>
          </a:solidFill>
          <a:ln w="12700">
            <a:solidFill>
              <a:srgbClr val="2C5282"/>
            </a:solidFill>
            <a:prstDash val="solid"/>
          </a:ln>
        </p:spPr>
        <p:txBody>
          <a:bodyPr/>
          <a:lstStyle/>
          <a:p>
            <a:endParaRPr lang="en-US"/>
          </a:p>
        </p:txBody>
      </p:sp>
      <p:sp>
        <p:nvSpPr>
          <p:cNvPr id="19" name="Shape 16"/>
          <p:cNvSpPr/>
          <p:nvPr/>
        </p:nvSpPr>
        <p:spPr>
          <a:xfrm>
            <a:off x="4572000" y="3364992"/>
            <a:ext cx="4297680" cy="246888"/>
          </a:xfrm>
          <a:prstGeom prst="rect">
            <a:avLst/>
          </a:prstGeom>
          <a:solidFill>
            <a:srgbClr val="2C5282"/>
          </a:solidFill>
          <a:ln w="12700">
            <a:solidFill>
              <a:srgbClr val="2C5282"/>
            </a:solidFill>
            <a:prstDash val="solid"/>
          </a:ln>
        </p:spPr>
        <p:txBody>
          <a:bodyPr/>
          <a:lstStyle/>
          <a:p>
            <a:endParaRPr lang="en-US"/>
          </a:p>
        </p:txBody>
      </p:sp>
      <p:sp>
        <p:nvSpPr>
          <p:cNvPr id="20" name="Text 17"/>
          <p:cNvSpPr/>
          <p:nvPr/>
        </p:nvSpPr>
        <p:spPr>
          <a:xfrm>
            <a:off x="4663440" y="3364992"/>
            <a:ext cx="4114800" cy="24688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Milei speech note</a:t>
            </a:r>
            <a:endParaRPr lang="en-US" sz="900" dirty="0"/>
          </a:p>
        </p:txBody>
      </p:sp>
      <p:sp>
        <p:nvSpPr>
          <p:cNvPr id="21" name="Text 18"/>
          <p:cNvSpPr/>
          <p:nvPr/>
        </p:nvSpPr>
        <p:spPr>
          <a:xfrm>
            <a:off x="4663440" y="3630168"/>
            <a:ext cx="4114800" cy="795528"/>
          </a:xfrm>
          <a:prstGeom prst="rect">
            <a:avLst/>
          </a:prstGeom>
          <a:noFill/>
          <a:ln/>
        </p:spPr>
        <p:txBody>
          <a:bodyPr wrap="square" rtlCol="0" anchor="t"/>
          <a:lstStyle/>
          <a:p>
            <a:pPr marL="0" indent="0">
              <a:buNone/>
            </a:pPr>
            <a:r>
              <a:rPr lang="en-US" sz="900" dirty="0">
                <a:solidFill>
                  <a:srgbClr val="1A202C"/>
                </a:solidFill>
                <a:latin typeface="Calibri" pitchFamily="34" charset="0"/>
                <a:ea typeface="Calibri" pitchFamily="34" charset="-122"/>
                <a:cs typeface="Calibri" pitchFamily="34" charset="-120"/>
              </a:rPr>
              <a:t>Milei: 40% of his paragraphs are fiscal-content vs 8–13% for Macri/AF. His speeches are longer and more ideologically concentrated.</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2C5282"/>
          </a:solidFill>
          <a:ln w="12700">
            <a:solidFill>
              <a:srgbClr val="2C5282"/>
            </a:solidFill>
            <a:prstDash val="solid"/>
          </a:ln>
        </p:spPr>
        <p:txBody>
          <a:bodyPr/>
          <a:lstStyle/>
          <a:p>
            <a:endParaRPr lang="en-US"/>
          </a:p>
        </p:txBody>
      </p:sp>
      <p:sp>
        <p:nvSpPr>
          <p:cNvPr id="3" name="Text 1"/>
          <p:cNvSpPr/>
          <p:nvPr/>
        </p:nvSpPr>
        <p:spPr>
          <a:xfrm>
            <a:off x="274320" y="0"/>
            <a:ext cx="868680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Signal Construction II — Pipeline</a:t>
            </a:r>
            <a:endParaRPr lang="en-US" sz="1600" dirty="0"/>
          </a:p>
        </p:txBody>
      </p:sp>
      <p:sp>
        <p:nvSpPr>
          <p:cNvPr id="4" name="Text 2"/>
          <p:cNvSpPr/>
          <p:nvPr/>
        </p:nvSpPr>
        <p:spPr>
          <a:xfrm>
            <a:off x="274320" y="4901184"/>
            <a:ext cx="6858000" cy="182880"/>
          </a:xfrm>
          <a:prstGeom prst="rect">
            <a:avLst/>
          </a:prstGeom>
          <a:noFill/>
          <a:ln/>
        </p:spPr>
        <p:txBody>
          <a:bodyPr wrap="square" rtlCol="0" anchor="ctr"/>
          <a:lstStyle/>
          <a:p>
            <a:pPr marL="0" indent="0">
              <a:buNone/>
            </a:pPr>
            <a:r>
              <a:rPr lang="en-US" sz="750" dirty="0">
                <a:solidFill>
                  <a:srgbClr val="718096"/>
                </a:solidFill>
                <a:latin typeface="Calibri" pitchFamily="34" charset="0"/>
                <a:ea typeface="Calibri" pitchFamily="34" charset="-122"/>
                <a:cs typeface="Calibri" pitchFamily="34" charset="-120"/>
              </a:rPr>
              <a:t>Kazi, Eviston, Rubiano  ·  BSE Masters 2026</a:t>
            </a:r>
            <a:endParaRPr lang="en-US" sz="750" dirty="0"/>
          </a:p>
        </p:txBody>
      </p:sp>
      <p:sp>
        <p:nvSpPr>
          <p:cNvPr id="5" name="Text 3"/>
          <p:cNvSpPr/>
          <p:nvPr/>
        </p:nvSpPr>
        <p:spPr>
          <a:xfrm>
            <a:off x="8046720" y="4901184"/>
            <a:ext cx="914400" cy="182880"/>
          </a:xfrm>
          <a:prstGeom prst="rect">
            <a:avLst/>
          </a:prstGeom>
          <a:noFill/>
          <a:ln/>
        </p:spPr>
        <p:txBody>
          <a:bodyPr wrap="square" rtlCol="0" anchor="ctr"/>
          <a:lstStyle/>
          <a:p>
            <a:pPr marL="0" indent="0" algn="r">
              <a:buNone/>
            </a:pPr>
            <a:r>
              <a:rPr lang="en-US" sz="750" dirty="0">
                <a:solidFill>
                  <a:srgbClr val="718096"/>
                </a:solidFill>
                <a:latin typeface="Calibri" pitchFamily="34" charset="0"/>
                <a:ea typeface="Calibri" pitchFamily="34" charset="-122"/>
                <a:cs typeface="Calibri" pitchFamily="34" charset="-120"/>
              </a:rPr>
              <a:t>4 / 12</a:t>
            </a:r>
            <a:endParaRPr lang="en-US" sz="750" dirty="0"/>
          </a:p>
        </p:txBody>
      </p:sp>
      <p:sp>
        <p:nvSpPr>
          <p:cNvPr id="6" name="Shape 4"/>
          <p:cNvSpPr/>
          <p:nvPr/>
        </p:nvSpPr>
        <p:spPr>
          <a:xfrm>
            <a:off x="1483088" y="605750"/>
            <a:ext cx="1737360" cy="566928"/>
          </a:xfrm>
          <a:prstGeom prst="rect">
            <a:avLst/>
          </a:prstGeom>
          <a:solidFill>
            <a:srgbClr val="EBF4FF"/>
          </a:solidFill>
          <a:ln w="19050">
            <a:solidFill>
              <a:srgbClr val="2C5282"/>
            </a:solidFill>
            <a:prstDash val="solid"/>
          </a:ln>
          <a:effectLst>
            <a:outerShdw blurRad="50800" dist="25400" dir="8100000" algn="bl" rotWithShape="0">
              <a:srgbClr val="000000">
                <a:alpha val="10000"/>
              </a:srgbClr>
            </a:outerShdw>
          </a:effectLst>
        </p:spPr>
        <p:txBody>
          <a:bodyPr/>
          <a:lstStyle/>
          <a:p>
            <a:endParaRPr lang="en-US"/>
          </a:p>
        </p:txBody>
      </p:sp>
      <p:sp>
        <p:nvSpPr>
          <p:cNvPr id="7" name="Text 5"/>
          <p:cNvSpPr/>
          <p:nvPr/>
        </p:nvSpPr>
        <p:spPr>
          <a:xfrm>
            <a:off x="1483088" y="605750"/>
            <a:ext cx="1737360" cy="566928"/>
          </a:xfrm>
          <a:prstGeom prst="rect">
            <a:avLst/>
          </a:prstGeom>
          <a:noFill/>
          <a:ln/>
        </p:spPr>
        <p:txBody>
          <a:bodyPr wrap="square" rtlCol="0" anchor="ctr"/>
          <a:lstStyle/>
          <a:p>
            <a:pPr marL="0" indent="0" algn="ctr">
              <a:buNone/>
            </a:pPr>
            <a:r>
              <a:rPr lang="en-US" sz="850" b="1" dirty="0">
                <a:solidFill>
                  <a:srgbClr val="1A202C"/>
                </a:solidFill>
                <a:latin typeface="Calibri" pitchFamily="34" charset="0"/>
                <a:ea typeface="Calibri" pitchFamily="34" charset="-122"/>
                <a:cs typeface="Calibri" pitchFamily="34" charset="-120"/>
              </a:rPr>
              <a:t>Raw corpus</a:t>
            </a:r>
            <a:endParaRPr lang="en-US" sz="850" dirty="0"/>
          </a:p>
          <a:p>
            <a:pPr marL="0" indent="0" algn="ctr">
              <a:buNone/>
            </a:pPr>
            <a:r>
              <a:rPr lang="en-US" sz="850" b="1" dirty="0">
                <a:solidFill>
                  <a:srgbClr val="1A202C"/>
                </a:solidFill>
                <a:latin typeface="Calibri" pitchFamily="34" charset="0"/>
                <a:ea typeface="Calibri" pitchFamily="34" charset="-122"/>
                <a:cs typeface="Calibri" pitchFamily="34" charset="-120"/>
              </a:rPr>
              <a:t>1,498 speeches / 16,197 paras</a:t>
            </a:r>
            <a:endParaRPr lang="en-US" sz="850" dirty="0"/>
          </a:p>
        </p:txBody>
      </p:sp>
      <p:sp>
        <p:nvSpPr>
          <p:cNvPr id="8" name="Shape 6"/>
          <p:cNvSpPr/>
          <p:nvPr/>
        </p:nvSpPr>
        <p:spPr>
          <a:xfrm>
            <a:off x="1483088" y="1417320"/>
            <a:ext cx="1737360" cy="704088"/>
          </a:xfrm>
          <a:prstGeom prst="rect">
            <a:avLst/>
          </a:prstGeom>
          <a:solidFill>
            <a:srgbClr val="EBF4FF"/>
          </a:solidFill>
          <a:ln w="19050">
            <a:solidFill>
              <a:srgbClr val="2C5282"/>
            </a:solidFill>
            <a:prstDash val="solid"/>
          </a:ln>
          <a:effectLst>
            <a:outerShdw blurRad="50800" dist="25400" dir="8100000" algn="bl" rotWithShape="0">
              <a:srgbClr val="000000">
                <a:alpha val="10000"/>
              </a:srgbClr>
            </a:outerShdw>
          </a:effectLst>
        </p:spPr>
        <p:txBody>
          <a:bodyPr/>
          <a:lstStyle/>
          <a:p>
            <a:endParaRPr lang="en-US"/>
          </a:p>
        </p:txBody>
      </p:sp>
      <p:sp>
        <p:nvSpPr>
          <p:cNvPr id="9" name="Text 7"/>
          <p:cNvSpPr/>
          <p:nvPr/>
        </p:nvSpPr>
        <p:spPr>
          <a:xfrm>
            <a:off x="1483088" y="1417320"/>
            <a:ext cx="1737360" cy="704088"/>
          </a:xfrm>
          <a:prstGeom prst="rect">
            <a:avLst/>
          </a:prstGeom>
          <a:noFill/>
          <a:ln/>
        </p:spPr>
        <p:txBody>
          <a:bodyPr wrap="square" rtlCol="0" anchor="ctr"/>
          <a:lstStyle/>
          <a:p>
            <a:pPr marL="0" indent="0" algn="ctr">
              <a:buNone/>
            </a:pPr>
            <a:r>
              <a:rPr lang="en-US" sz="850" b="1" dirty="0">
                <a:solidFill>
                  <a:srgbClr val="1A202C"/>
                </a:solidFill>
                <a:latin typeface="Calibri" pitchFamily="34" charset="0"/>
                <a:ea typeface="Calibri" pitchFamily="34" charset="-122"/>
                <a:cs typeface="Calibri" pitchFamily="34" charset="-120"/>
              </a:rPr>
              <a:t>Keyword fiscal filter</a:t>
            </a:r>
            <a:endParaRPr lang="en-US" sz="850" dirty="0"/>
          </a:p>
          <a:p>
            <a:pPr marL="0" indent="0" algn="ctr">
              <a:buNone/>
            </a:pPr>
            <a:r>
              <a:rPr lang="en-US" sz="850" b="1" dirty="0">
                <a:solidFill>
                  <a:srgbClr val="1A202C"/>
                </a:solidFill>
                <a:latin typeface="Calibri" pitchFamily="34" charset="0"/>
                <a:ea typeface="Calibri" pitchFamily="34" charset="-122"/>
                <a:cs typeface="Calibri" pitchFamily="34" charset="-120"/>
              </a:rPr>
              <a:t>(BBD 2016, 22 stems)</a:t>
            </a:r>
            <a:endParaRPr lang="en-US" sz="850" dirty="0"/>
          </a:p>
          <a:p>
            <a:pPr marL="0" indent="0" algn="ctr">
              <a:buNone/>
            </a:pPr>
            <a:r>
              <a:rPr lang="en-US" sz="850" b="1" dirty="0">
                <a:solidFill>
                  <a:srgbClr val="1A202C"/>
                </a:solidFill>
                <a:latin typeface="Calibri" pitchFamily="34" charset="0"/>
                <a:ea typeface="Calibri" pitchFamily="34" charset="-122"/>
                <a:cs typeface="Calibri" pitchFamily="34" charset="-120"/>
              </a:rPr>
              <a:t>3,904 fiscal paras</a:t>
            </a:r>
            <a:endParaRPr lang="en-US" sz="850" dirty="0"/>
          </a:p>
        </p:txBody>
      </p:sp>
      <p:sp>
        <p:nvSpPr>
          <p:cNvPr id="10" name="Shape 8"/>
          <p:cNvSpPr/>
          <p:nvPr/>
        </p:nvSpPr>
        <p:spPr>
          <a:xfrm>
            <a:off x="274320" y="2395728"/>
            <a:ext cx="1920240" cy="658368"/>
          </a:xfrm>
          <a:prstGeom prst="rect">
            <a:avLst/>
          </a:prstGeom>
          <a:solidFill>
            <a:srgbClr val="EBF4FF"/>
          </a:solidFill>
          <a:ln w="19050">
            <a:solidFill>
              <a:srgbClr val="2C5282"/>
            </a:solidFill>
            <a:prstDash val="solid"/>
          </a:ln>
          <a:effectLst>
            <a:outerShdw blurRad="50800" dist="25400" dir="8100000" algn="bl" rotWithShape="0">
              <a:srgbClr val="000000">
                <a:alpha val="10000"/>
              </a:srgbClr>
            </a:outerShdw>
          </a:effectLst>
        </p:spPr>
        <p:txBody>
          <a:bodyPr/>
          <a:lstStyle/>
          <a:p>
            <a:endParaRPr lang="en-US"/>
          </a:p>
        </p:txBody>
      </p:sp>
      <p:sp>
        <p:nvSpPr>
          <p:cNvPr id="11" name="Text 9"/>
          <p:cNvSpPr/>
          <p:nvPr/>
        </p:nvSpPr>
        <p:spPr>
          <a:xfrm>
            <a:off x="274320" y="2395728"/>
            <a:ext cx="1920240" cy="658368"/>
          </a:xfrm>
          <a:prstGeom prst="rect">
            <a:avLst/>
          </a:prstGeom>
          <a:noFill/>
          <a:ln/>
        </p:spPr>
        <p:txBody>
          <a:bodyPr wrap="square" rtlCol="0" anchor="ctr"/>
          <a:lstStyle/>
          <a:p>
            <a:pPr marL="0" indent="0" algn="ctr">
              <a:buNone/>
            </a:pPr>
            <a:r>
              <a:rPr lang="en-US" sz="850" b="1" dirty="0">
                <a:solidFill>
                  <a:srgbClr val="1A202C"/>
                </a:solidFill>
                <a:latin typeface="Calibri" pitchFamily="34" charset="0"/>
                <a:ea typeface="Calibri" pitchFamily="34" charset="-122"/>
                <a:cs typeface="Calibri" pitchFamily="34" charset="-120"/>
              </a:rPr>
              <a:t>Dictionary</a:t>
            </a:r>
            <a:endParaRPr lang="en-US" sz="850" dirty="0"/>
          </a:p>
          <a:p>
            <a:pPr marL="0" indent="0" algn="ctr">
              <a:buNone/>
            </a:pPr>
            <a:r>
              <a:rPr lang="en-US" sz="850" b="1" dirty="0">
                <a:solidFill>
                  <a:srgbClr val="1A202C"/>
                </a:solidFill>
                <a:latin typeface="Calibri" pitchFamily="34" charset="0"/>
                <a:ea typeface="Calibri" pitchFamily="34" charset="-122"/>
                <a:cs typeface="Calibri" pitchFamily="34" charset="-120"/>
              </a:rPr>
              <a:t>61 hawkish / 46 dovish</a:t>
            </a:r>
            <a:endParaRPr lang="en-US" sz="850" dirty="0"/>
          </a:p>
          <a:p>
            <a:pPr marL="0" indent="0" algn="ctr">
              <a:buNone/>
            </a:pPr>
            <a:r>
              <a:rPr lang="en-US" sz="850" b="1" dirty="0">
                <a:solidFill>
                  <a:srgbClr val="1A202C"/>
                </a:solidFill>
                <a:latin typeface="Calibri" pitchFamily="34" charset="0"/>
                <a:ea typeface="Calibri" pitchFamily="34" charset="-122"/>
                <a:cs typeface="Calibri" pitchFamily="34" charset="-120"/>
              </a:rPr>
              <a:t>Terms (theoretically motivated)</a:t>
            </a:r>
            <a:endParaRPr lang="en-US" sz="850" dirty="0"/>
          </a:p>
        </p:txBody>
      </p:sp>
      <p:sp>
        <p:nvSpPr>
          <p:cNvPr id="12" name="Shape 10"/>
          <p:cNvSpPr/>
          <p:nvPr/>
        </p:nvSpPr>
        <p:spPr>
          <a:xfrm>
            <a:off x="274320" y="3246120"/>
            <a:ext cx="1920240" cy="566928"/>
          </a:xfrm>
          <a:prstGeom prst="rect">
            <a:avLst/>
          </a:prstGeom>
          <a:solidFill>
            <a:srgbClr val="EBF4FF"/>
          </a:solidFill>
          <a:ln w="19050">
            <a:solidFill>
              <a:srgbClr val="2C5282"/>
            </a:solidFill>
            <a:prstDash val="solid"/>
          </a:ln>
          <a:effectLst>
            <a:outerShdw blurRad="50800" dist="25400" dir="8100000" algn="bl" rotWithShape="0">
              <a:srgbClr val="000000">
                <a:alpha val="10000"/>
              </a:srgbClr>
            </a:outerShdw>
          </a:effectLst>
        </p:spPr>
        <p:txBody>
          <a:bodyPr/>
          <a:lstStyle/>
          <a:p>
            <a:endParaRPr lang="en-US"/>
          </a:p>
        </p:txBody>
      </p:sp>
      <p:sp>
        <p:nvSpPr>
          <p:cNvPr id="13" name="Text 11"/>
          <p:cNvSpPr/>
          <p:nvPr/>
        </p:nvSpPr>
        <p:spPr>
          <a:xfrm>
            <a:off x="274320" y="3246120"/>
            <a:ext cx="1920240" cy="566928"/>
          </a:xfrm>
          <a:prstGeom prst="rect">
            <a:avLst/>
          </a:prstGeom>
          <a:noFill/>
          <a:ln/>
        </p:spPr>
        <p:txBody>
          <a:bodyPr wrap="square" rtlCol="0" anchor="ctr"/>
          <a:lstStyle/>
          <a:p>
            <a:pPr marL="0" indent="0" algn="ctr">
              <a:buNone/>
            </a:pPr>
            <a:r>
              <a:rPr lang="en-US" sz="850" b="1" dirty="0">
                <a:solidFill>
                  <a:srgbClr val="1A202C"/>
                </a:solidFill>
                <a:latin typeface="Calibri" pitchFamily="34" charset="0"/>
                <a:ea typeface="Calibri" pitchFamily="34" charset="-122"/>
                <a:cs typeface="Calibri" pitchFamily="34" charset="-120"/>
              </a:rPr>
              <a:t>Dictionary signal</a:t>
            </a:r>
            <a:endParaRPr lang="en-US" sz="850" dirty="0"/>
          </a:p>
          <a:p>
            <a:pPr marL="0" indent="0" algn="ctr">
              <a:buNone/>
            </a:pPr>
            <a:r>
              <a:rPr lang="en-US" sz="850" b="1" dirty="0">
                <a:solidFill>
                  <a:srgbClr val="1A202C"/>
                </a:solidFill>
                <a:latin typeface="Calibri" pitchFamily="34" charset="0"/>
                <a:ea typeface="Calibri" pitchFamily="34" charset="-122"/>
                <a:cs typeface="Calibri" pitchFamily="34" charset="-120"/>
              </a:rPr>
              <a:t>(robustness)</a:t>
            </a:r>
            <a:endParaRPr lang="en-US" sz="850" dirty="0"/>
          </a:p>
        </p:txBody>
      </p:sp>
      <p:sp>
        <p:nvSpPr>
          <p:cNvPr id="14" name="Shape 12"/>
          <p:cNvSpPr/>
          <p:nvPr/>
        </p:nvSpPr>
        <p:spPr>
          <a:xfrm>
            <a:off x="2514600" y="2395728"/>
            <a:ext cx="1920240" cy="658368"/>
          </a:xfrm>
          <a:prstGeom prst="rect">
            <a:avLst/>
          </a:prstGeom>
          <a:solidFill>
            <a:srgbClr val="FED7D7"/>
          </a:solidFill>
          <a:ln w="19050">
            <a:solidFill>
              <a:srgbClr val="C53030"/>
            </a:solidFill>
            <a:prstDash val="solid"/>
          </a:ln>
          <a:effectLst>
            <a:outerShdw blurRad="50800" dist="25400" dir="8100000" algn="bl" rotWithShape="0">
              <a:srgbClr val="000000">
                <a:alpha val="10000"/>
              </a:srgbClr>
            </a:outerShdw>
          </a:effectLst>
        </p:spPr>
        <p:txBody>
          <a:bodyPr/>
          <a:lstStyle/>
          <a:p>
            <a:endParaRPr lang="en-US"/>
          </a:p>
        </p:txBody>
      </p:sp>
      <p:sp>
        <p:nvSpPr>
          <p:cNvPr id="15" name="Text 13"/>
          <p:cNvSpPr/>
          <p:nvPr/>
        </p:nvSpPr>
        <p:spPr>
          <a:xfrm>
            <a:off x="2514600" y="2395728"/>
            <a:ext cx="1920240" cy="658368"/>
          </a:xfrm>
          <a:prstGeom prst="rect">
            <a:avLst/>
          </a:prstGeom>
          <a:noFill/>
          <a:ln/>
        </p:spPr>
        <p:txBody>
          <a:bodyPr wrap="square" rtlCol="0" anchor="ctr"/>
          <a:lstStyle/>
          <a:p>
            <a:pPr marL="0" indent="0" algn="ctr">
              <a:buNone/>
            </a:pPr>
            <a:r>
              <a:rPr lang="en-US" sz="850" b="1" dirty="0">
                <a:solidFill>
                  <a:srgbClr val="1A202C"/>
                </a:solidFill>
                <a:latin typeface="Calibri" pitchFamily="34" charset="0"/>
                <a:ea typeface="Calibri" pitchFamily="34" charset="-122"/>
                <a:cs typeface="Calibri" pitchFamily="34" charset="-120"/>
              </a:rPr>
              <a:t>LLM scoring</a:t>
            </a:r>
            <a:endParaRPr lang="en-US" sz="850" dirty="0"/>
          </a:p>
          <a:p>
            <a:pPr marL="0" indent="0" algn="ctr">
              <a:buNone/>
            </a:pPr>
            <a:r>
              <a:rPr lang="en-US" sz="850" b="1" dirty="0">
                <a:solidFill>
                  <a:srgbClr val="1A202C"/>
                </a:solidFill>
                <a:latin typeface="Calibri" pitchFamily="34" charset="0"/>
                <a:ea typeface="Calibri" pitchFamily="34" charset="-122"/>
                <a:cs typeface="Calibri" pitchFamily="34" charset="-120"/>
              </a:rPr>
              <a:t>Claude Haiku</a:t>
            </a:r>
            <a:endParaRPr lang="en-US" sz="850" dirty="0"/>
          </a:p>
          <a:p>
            <a:pPr marL="0" indent="0" algn="ctr">
              <a:buNone/>
            </a:pPr>
            <a:r>
              <a:rPr lang="en-US" sz="850" b="1" dirty="0">
                <a:solidFill>
                  <a:srgbClr val="1A202C"/>
                </a:solidFill>
                <a:latin typeface="Calibri" pitchFamily="34" charset="0"/>
                <a:ea typeface="Calibri" pitchFamily="34" charset="-122"/>
                <a:cs typeface="Calibri" pitchFamily="34" charset="-120"/>
              </a:rPr>
              <a:t>zero-shot, T=0</a:t>
            </a:r>
            <a:endParaRPr lang="en-US" sz="850" dirty="0"/>
          </a:p>
        </p:txBody>
      </p:sp>
      <p:sp>
        <p:nvSpPr>
          <p:cNvPr id="16" name="Shape 14"/>
          <p:cNvSpPr/>
          <p:nvPr/>
        </p:nvSpPr>
        <p:spPr>
          <a:xfrm>
            <a:off x="2514600" y="3246120"/>
            <a:ext cx="1920240" cy="566928"/>
          </a:xfrm>
          <a:prstGeom prst="rect">
            <a:avLst/>
          </a:prstGeom>
          <a:solidFill>
            <a:srgbClr val="FED7D7"/>
          </a:solidFill>
          <a:ln w="19050">
            <a:solidFill>
              <a:srgbClr val="C53030"/>
            </a:solidFill>
            <a:prstDash val="solid"/>
          </a:ln>
          <a:effectLst>
            <a:outerShdw blurRad="50800" dist="25400" dir="8100000" algn="bl" rotWithShape="0">
              <a:srgbClr val="000000">
                <a:alpha val="10000"/>
              </a:srgbClr>
            </a:outerShdw>
          </a:effectLst>
        </p:spPr>
        <p:txBody>
          <a:bodyPr/>
          <a:lstStyle/>
          <a:p>
            <a:endParaRPr lang="en-US"/>
          </a:p>
        </p:txBody>
      </p:sp>
      <p:sp>
        <p:nvSpPr>
          <p:cNvPr id="17" name="Text 15"/>
          <p:cNvSpPr/>
          <p:nvPr/>
        </p:nvSpPr>
        <p:spPr>
          <a:xfrm>
            <a:off x="2514600" y="3246120"/>
            <a:ext cx="1920240" cy="566928"/>
          </a:xfrm>
          <a:prstGeom prst="rect">
            <a:avLst/>
          </a:prstGeom>
          <a:noFill/>
          <a:ln/>
        </p:spPr>
        <p:txBody>
          <a:bodyPr wrap="square" rtlCol="0" anchor="ctr"/>
          <a:lstStyle/>
          <a:p>
            <a:pPr marL="0" indent="0" algn="ctr">
              <a:buNone/>
            </a:pPr>
            <a:r>
              <a:rPr lang="en-US" sz="850" b="1" dirty="0">
                <a:solidFill>
                  <a:srgbClr val="1A202C"/>
                </a:solidFill>
                <a:latin typeface="Calibri" pitchFamily="34" charset="0"/>
                <a:ea typeface="Calibri" pitchFamily="34" charset="-122"/>
                <a:cs typeface="Calibri" pitchFamily="34" charset="-120"/>
              </a:rPr>
              <a:t>LLM signal</a:t>
            </a:r>
            <a:endParaRPr lang="en-US" sz="850" dirty="0"/>
          </a:p>
          <a:p>
            <a:pPr marL="0" indent="0" algn="ctr">
              <a:buNone/>
            </a:pPr>
            <a:r>
              <a:rPr lang="en-US" sz="850" b="1" dirty="0">
                <a:solidFill>
                  <a:srgbClr val="1A202C"/>
                </a:solidFill>
                <a:latin typeface="Calibri" pitchFamily="34" charset="0"/>
                <a:ea typeface="Calibri" pitchFamily="34" charset="-122"/>
                <a:cs typeface="Calibri" pitchFamily="34" charset="-120"/>
              </a:rPr>
              <a:t>(PRIMARY)</a:t>
            </a:r>
            <a:endParaRPr lang="en-US" sz="850" dirty="0"/>
          </a:p>
        </p:txBody>
      </p:sp>
      <p:sp>
        <p:nvSpPr>
          <p:cNvPr id="18" name="Shape 16"/>
          <p:cNvSpPr/>
          <p:nvPr/>
        </p:nvSpPr>
        <p:spPr>
          <a:xfrm>
            <a:off x="1288981" y="4133088"/>
            <a:ext cx="2286000" cy="475488"/>
          </a:xfrm>
          <a:prstGeom prst="rect">
            <a:avLst/>
          </a:prstGeom>
          <a:solidFill>
            <a:srgbClr val="FEFCBF"/>
          </a:solidFill>
          <a:ln w="25400">
            <a:solidFill>
              <a:srgbClr val="D69E2E"/>
            </a:solidFill>
            <a:prstDash val="solid"/>
          </a:ln>
        </p:spPr>
        <p:txBody>
          <a:bodyPr/>
          <a:lstStyle/>
          <a:p>
            <a:endParaRPr lang="en-US"/>
          </a:p>
        </p:txBody>
      </p:sp>
      <p:sp>
        <p:nvSpPr>
          <p:cNvPr id="19" name="Text 17"/>
          <p:cNvSpPr/>
          <p:nvPr/>
        </p:nvSpPr>
        <p:spPr>
          <a:xfrm>
            <a:off x="1288981" y="4133088"/>
            <a:ext cx="2286000" cy="475488"/>
          </a:xfrm>
          <a:prstGeom prst="rect">
            <a:avLst/>
          </a:prstGeom>
          <a:noFill/>
          <a:ln/>
        </p:spPr>
        <p:txBody>
          <a:bodyPr wrap="square" rtlCol="0" anchor="ctr"/>
          <a:lstStyle/>
          <a:p>
            <a:pPr marL="0" indent="0" algn="ctr">
              <a:buNone/>
            </a:pPr>
            <a:r>
              <a:rPr lang="en-US" sz="900" b="1" dirty="0">
                <a:solidFill>
                  <a:srgbClr val="1A202C"/>
                </a:solidFill>
                <a:latin typeface="Calibri" pitchFamily="34" charset="0"/>
                <a:ea typeface="Calibri" pitchFamily="34" charset="-122"/>
                <a:cs typeface="Calibri" pitchFamily="34" charset="-120"/>
              </a:rPr>
              <a:t>Cross-validation: ρ = 0.835</a:t>
            </a:r>
            <a:endParaRPr lang="en-US" sz="900" dirty="0"/>
          </a:p>
        </p:txBody>
      </p:sp>
      <p:sp>
        <p:nvSpPr>
          <p:cNvPr id="20" name="Shape 18"/>
          <p:cNvSpPr/>
          <p:nvPr/>
        </p:nvSpPr>
        <p:spPr>
          <a:xfrm>
            <a:off x="2343747" y="1172678"/>
            <a:ext cx="914" cy="228600"/>
          </a:xfrm>
          <a:prstGeom prst="line">
            <a:avLst/>
          </a:prstGeom>
          <a:noFill/>
          <a:ln w="19050">
            <a:solidFill>
              <a:srgbClr val="2C5282"/>
            </a:solidFill>
            <a:prstDash val="solid"/>
            <a:tailEnd type="triangle"/>
          </a:ln>
        </p:spPr>
        <p:txBody>
          <a:bodyPr/>
          <a:lstStyle/>
          <a:p>
            <a:endParaRPr lang="en-US"/>
          </a:p>
        </p:txBody>
      </p:sp>
      <p:sp>
        <p:nvSpPr>
          <p:cNvPr id="21" name="Shape 19"/>
          <p:cNvSpPr/>
          <p:nvPr/>
        </p:nvSpPr>
        <p:spPr>
          <a:xfrm>
            <a:off x="2351768" y="2121408"/>
            <a:ext cx="914" cy="109728"/>
          </a:xfrm>
          <a:prstGeom prst="line">
            <a:avLst/>
          </a:prstGeom>
          <a:noFill/>
          <a:ln w="19050">
            <a:solidFill>
              <a:srgbClr val="2C5282"/>
            </a:solidFill>
            <a:prstDash val="solid"/>
            <a:tailEnd type="triangle"/>
          </a:ln>
        </p:spPr>
        <p:txBody>
          <a:bodyPr/>
          <a:lstStyle/>
          <a:p>
            <a:endParaRPr lang="en-US"/>
          </a:p>
        </p:txBody>
      </p:sp>
      <p:sp>
        <p:nvSpPr>
          <p:cNvPr id="22" name="Shape 20"/>
          <p:cNvSpPr/>
          <p:nvPr/>
        </p:nvSpPr>
        <p:spPr>
          <a:xfrm>
            <a:off x="1234440" y="2231136"/>
            <a:ext cx="2240280" cy="0"/>
          </a:xfrm>
          <a:prstGeom prst="line">
            <a:avLst/>
          </a:prstGeom>
          <a:noFill/>
          <a:ln w="19050">
            <a:solidFill>
              <a:srgbClr val="2C5282"/>
            </a:solidFill>
            <a:prstDash val="solid"/>
          </a:ln>
        </p:spPr>
        <p:txBody>
          <a:bodyPr/>
          <a:lstStyle/>
          <a:p>
            <a:endParaRPr lang="en-US"/>
          </a:p>
        </p:txBody>
      </p:sp>
      <p:sp>
        <p:nvSpPr>
          <p:cNvPr id="23" name="Shape 21"/>
          <p:cNvSpPr/>
          <p:nvPr/>
        </p:nvSpPr>
        <p:spPr>
          <a:xfrm>
            <a:off x="1234440" y="2231136"/>
            <a:ext cx="914" cy="164592"/>
          </a:xfrm>
          <a:prstGeom prst="line">
            <a:avLst/>
          </a:prstGeom>
          <a:noFill/>
          <a:ln w="19050">
            <a:solidFill>
              <a:srgbClr val="2C5282"/>
            </a:solidFill>
            <a:prstDash val="solid"/>
            <a:tailEnd type="triangle"/>
          </a:ln>
        </p:spPr>
        <p:txBody>
          <a:bodyPr/>
          <a:lstStyle/>
          <a:p>
            <a:endParaRPr lang="en-US"/>
          </a:p>
        </p:txBody>
      </p:sp>
      <p:sp>
        <p:nvSpPr>
          <p:cNvPr id="24" name="Shape 22"/>
          <p:cNvSpPr/>
          <p:nvPr/>
        </p:nvSpPr>
        <p:spPr>
          <a:xfrm>
            <a:off x="3474720" y="2231136"/>
            <a:ext cx="914" cy="164592"/>
          </a:xfrm>
          <a:prstGeom prst="line">
            <a:avLst/>
          </a:prstGeom>
          <a:noFill/>
          <a:ln w="19050">
            <a:solidFill>
              <a:srgbClr val="C53030"/>
            </a:solidFill>
            <a:prstDash val="solid"/>
            <a:tailEnd type="triangle"/>
          </a:ln>
        </p:spPr>
        <p:txBody>
          <a:bodyPr/>
          <a:lstStyle/>
          <a:p>
            <a:endParaRPr lang="en-US"/>
          </a:p>
        </p:txBody>
      </p:sp>
      <p:sp>
        <p:nvSpPr>
          <p:cNvPr id="25" name="Shape 23"/>
          <p:cNvSpPr/>
          <p:nvPr/>
        </p:nvSpPr>
        <p:spPr>
          <a:xfrm>
            <a:off x="1234440" y="3054096"/>
            <a:ext cx="914" cy="192024"/>
          </a:xfrm>
          <a:prstGeom prst="line">
            <a:avLst/>
          </a:prstGeom>
          <a:noFill/>
          <a:ln w="19050">
            <a:solidFill>
              <a:srgbClr val="2C5282"/>
            </a:solidFill>
            <a:prstDash val="solid"/>
            <a:tailEnd type="triangle"/>
          </a:ln>
        </p:spPr>
        <p:txBody>
          <a:bodyPr/>
          <a:lstStyle/>
          <a:p>
            <a:endParaRPr lang="en-US"/>
          </a:p>
        </p:txBody>
      </p:sp>
      <p:sp>
        <p:nvSpPr>
          <p:cNvPr id="26" name="Shape 24"/>
          <p:cNvSpPr/>
          <p:nvPr/>
        </p:nvSpPr>
        <p:spPr>
          <a:xfrm>
            <a:off x="3474720" y="3054096"/>
            <a:ext cx="914" cy="192024"/>
          </a:xfrm>
          <a:prstGeom prst="line">
            <a:avLst/>
          </a:prstGeom>
          <a:noFill/>
          <a:ln w="19050">
            <a:solidFill>
              <a:srgbClr val="C53030"/>
            </a:solidFill>
            <a:prstDash val="solid"/>
            <a:tailEnd type="triangle"/>
          </a:ln>
        </p:spPr>
        <p:txBody>
          <a:bodyPr/>
          <a:lstStyle/>
          <a:p>
            <a:endParaRPr lang="en-US"/>
          </a:p>
        </p:txBody>
      </p:sp>
      <p:sp>
        <p:nvSpPr>
          <p:cNvPr id="27" name="Shape 25"/>
          <p:cNvSpPr/>
          <p:nvPr/>
        </p:nvSpPr>
        <p:spPr>
          <a:xfrm>
            <a:off x="1418923" y="3813048"/>
            <a:ext cx="411480" cy="320040"/>
          </a:xfrm>
          <a:prstGeom prst="line">
            <a:avLst/>
          </a:prstGeom>
          <a:noFill/>
          <a:ln w="19050">
            <a:solidFill>
              <a:srgbClr val="D69E2E"/>
            </a:solidFill>
            <a:prstDash val="dash"/>
            <a:tailEnd type="triangle"/>
          </a:ln>
        </p:spPr>
        <p:txBody>
          <a:bodyPr/>
          <a:lstStyle/>
          <a:p>
            <a:endParaRPr lang="en-US"/>
          </a:p>
        </p:txBody>
      </p:sp>
      <p:sp>
        <p:nvSpPr>
          <p:cNvPr id="28" name="Shape 26"/>
          <p:cNvSpPr/>
          <p:nvPr/>
        </p:nvSpPr>
        <p:spPr>
          <a:xfrm flipH="1">
            <a:off x="3063240" y="3813048"/>
            <a:ext cx="603984" cy="292608"/>
          </a:xfrm>
          <a:prstGeom prst="line">
            <a:avLst/>
          </a:prstGeom>
          <a:noFill/>
          <a:ln w="19050">
            <a:solidFill>
              <a:srgbClr val="D69E2E"/>
            </a:solidFill>
            <a:prstDash val="dash"/>
            <a:tailEnd type="triangle"/>
          </a:ln>
        </p:spPr>
        <p:txBody>
          <a:bodyPr/>
          <a:lstStyle/>
          <a:p>
            <a:endParaRPr lang="en-US"/>
          </a:p>
        </p:txBody>
      </p:sp>
      <p:sp>
        <p:nvSpPr>
          <p:cNvPr id="29" name="Text 27"/>
          <p:cNvSpPr/>
          <p:nvPr/>
        </p:nvSpPr>
        <p:spPr>
          <a:xfrm>
            <a:off x="4663440" y="576072"/>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Fiscal filter (BBD 2016)</a:t>
            </a:r>
            <a:endParaRPr lang="en-US" sz="1100" dirty="0"/>
          </a:p>
        </p:txBody>
      </p:sp>
      <p:sp>
        <p:nvSpPr>
          <p:cNvPr id="30" name="Text 28"/>
          <p:cNvSpPr/>
          <p:nvPr/>
        </p:nvSpPr>
        <p:spPr>
          <a:xfrm>
            <a:off x="4663440" y="850392"/>
            <a:ext cx="4206240" cy="822960"/>
          </a:xfrm>
          <a:prstGeom prst="rect">
            <a:avLst/>
          </a:prstGeom>
          <a:noFill/>
          <a:ln/>
        </p:spPr>
        <p:txBody>
          <a:bodyPr wrap="square" rtlCol="0" anchor="t"/>
          <a:lstStyle/>
          <a:p>
            <a:pPr marL="0" indent="0">
              <a:buNone/>
            </a:pPr>
            <a:r>
              <a:rPr lang="en-US" sz="1000" dirty="0">
                <a:solidFill>
                  <a:srgbClr val="1A202C"/>
                </a:solidFill>
                <a:latin typeface="Calibri" pitchFamily="34" charset="0"/>
                <a:ea typeface="Calibri" pitchFamily="34" charset="-122"/>
                <a:cs typeface="Calibri" pitchFamily="34" charset="-120"/>
              </a:rPr>
              <a:t>22 keyword stems; symmetric across hawkish (déficit, ajuste, emisión) and dovish vocabulary (jubil, salario, pobreza). Replaces LDA threshold which caught 84% of hawkish hits but only 40% of dovish hits.</a:t>
            </a:r>
            <a:endParaRPr lang="en-US" sz="1000" dirty="0"/>
          </a:p>
        </p:txBody>
      </p:sp>
      <p:sp>
        <p:nvSpPr>
          <p:cNvPr id="31" name="Text 29"/>
          <p:cNvSpPr/>
          <p:nvPr/>
        </p:nvSpPr>
        <p:spPr>
          <a:xfrm>
            <a:off x="4663440" y="1719072"/>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Dictionary signal (Stage 4)</a:t>
            </a:r>
            <a:endParaRPr lang="en-US" sz="1100" dirty="0"/>
          </a:p>
        </p:txBody>
      </p:sp>
      <p:sp>
        <p:nvSpPr>
          <p:cNvPr id="32" name="Text 30"/>
          <p:cNvSpPr/>
          <p:nvPr/>
        </p:nvSpPr>
        <p:spPr>
          <a:xfrm>
            <a:off x="4663440" y="1993392"/>
            <a:ext cx="4206240" cy="502920"/>
          </a:xfrm>
          <a:prstGeom prst="rect">
            <a:avLst/>
          </a:prstGeom>
          <a:noFill/>
          <a:ln/>
        </p:spPr>
        <p:txBody>
          <a:bodyPr wrap="square" rtlCol="0" anchor="t"/>
          <a:lstStyle/>
          <a:p>
            <a:pPr marL="0" indent="0">
              <a:buNone/>
            </a:pPr>
            <a:r>
              <a:rPr lang="en-US" sz="1000" dirty="0">
                <a:solidFill>
                  <a:srgbClr val="1A202C"/>
                </a:solidFill>
                <a:latin typeface="Calibri" pitchFamily="34" charset="0"/>
                <a:ea typeface="Calibri" pitchFamily="34" charset="-122"/>
                <a:cs typeface="Calibri" pitchFamily="34" charset="-120"/>
              </a:rPr>
              <a:t>EPU paragraph-counting: signalₜ = (Hₜ − Dₜ) / Pₜ. Two-tier negation filter; winsorised 2.5/97.5%.</a:t>
            </a:r>
            <a:endParaRPr lang="en-US" sz="1000" dirty="0"/>
          </a:p>
        </p:txBody>
      </p:sp>
      <p:sp>
        <p:nvSpPr>
          <p:cNvPr id="33" name="Text 31"/>
          <p:cNvSpPr/>
          <p:nvPr/>
        </p:nvSpPr>
        <p:spPr>
          <a:xfrm>
            <a:off x="4663440" y="2542032"/>
            <a:ext cx="4206240" cy="246888"/>
          </a:xfrm>
          <a:prstGeom prst="rect">
            <a:avLst/>
          </a:prstGeom>
          <a:noFill/>
          <a:ln/>
        </p:spPr>
        <p:txBody>
          <a:bodyPr wrap="square" rtlCol="0" anchor="ctr"/>
          <a:lstStyle/>
          <a:p>
            <a:pPr marL="0" indent="0">
              <a:buNone/>
            </a:pPr>
            <a:r>
              <a:rPr lang="en-US" sz="1100" b="1" dirty="0">
                <a:solidFill>
                  <a:srgbClr val="C53030"/>
                </a:solidFill>
                <a:latin typeface="Calibri" pitchFamily="34" charset="0"/>
                <a:ea typeface="Calibri" pitchFamily="34" charset="-122"/>
                <a:cs typeface="Calibri" pitchFamily="34" charset="-120"/>
              </a:rPr>
              <a:t>LLM signal — PRIMARY (Stage 5)</a:t>
            </a:r>
            <a:endParaRPr lang="en-US" sz="1100" dirty="0"/>
          </a:p>
        </p:txBody>
      </p:sp>
      <p:sp>
        <p:nvSpPr>
          <p:cNvPr id="34" name="Text 32"/>
          <p:cNvSpPr/>
          <p:nvPr/>
        </p:nvSpPr>
        <p:spPr>
          <a:xfrm>
            <a:off x="4663440" y="2816352"/>
            <a:ext cx="4206240" cy="777240"/>
          </a:xfrm>
          <a:prstGeom prst="rect">
            <a:avLst/>
          </a:prstGeom>
          <a:noFill/>
          <a:ln/>
        </p:spPr>
        <p:txBody>
          <a:bodyPr wrap="square" rtlCol="0" anchor="t"/>
          <a:lstStyle/>
          <a:p>
            <a:pPr marL="0" indent="0">
              <a:buNone/>
            </a:pPr>
            <a:r>
              <a:rPr lang="en-US" sz="1000" b="1" dirty="0">
                <a:solidFill>
                  <a:srgbClr val="1A202C"/>
                </a:solidFill>
                <a:latin typeface="Calibri" pitchFamily="34" charset="0"/>
                <a:ea typeface="Calibri" pitchFamily="34" charset="-122"/>
                <a:cs typeface="Calibri" pitchFamily="34" charset="-120"/>
              </a:rPr>
              <a:t>Speaker identity never shown</a:t>
            </a:r>
            <a:r>
              <a:rPr lang="en-US" sz="1000" dirty="0">
                <a:solidFill>
                  <a:srgbClr val="1A202C"/>
                </a:solidFill>
                <a:latin typeface="Calibri" pitchFamily="34" charset="0"/>
                <a:ea typeface="Calibri" pitchFamily="34" charset="-122"/>
                <a:cs typeface="Calibri" pitchFamily="34" charset="-120"/>
              </a:rPr>
              <a:t> to model. Blind rubric: +1 hawkish / 0 neutral / −1 dovish. Captures ideological framing missed by dictionary (e.g. Davos 2024: LLM z=+1.54, dict z=+0.24).</a:t>
            </a:r>
            <a:endParaRPr lang="en-US" sz="1000" dirty="0"/>
          </a:p>
        </p:txBody>
      </p:sp>
      <p:sp>
        <p:nvSpPr>
          <p:cNvPr id="35" name="Shape 33"/>
          <p:cNvSpPr/>
          <p:nvPr/>
        </p:nvSpPr>
        <p:spPr>
          <a:xfrm>
            <a:off x="4663440" y="3639312"/>
            <a:ext cx="4206240" cy="804672"/>
          </a:xfrm>
          <a:prstGeom prst="rect">
            <a:avLst/>
          </a:prstGeom>
          <a:solidFill>
            <a:srgbClr val="EBF4FF"/>
          </a:solidFill>
          <a:ln w="12700">
            <a:solidFill>
              <a:srgbClr val="2C5282"/>
            </a:solidFill>
            <a:prstDash val="solid"/>
          </a:ln>
        </p:spPr>
        <p:txBody>
          <a:bodyPr/>
          <a:lstStyle/>
          <a:p>
            <a:endParaRPr lang="en-US"/>
          </a:p>
        </p:txBody>
      </p:sp>
      <p:sp>
        <p:nvSpPr>
          <p:cNvPr id="36" name="Shape 34"/>
          <p:cNvSpPr/>
          <p:nvPr/>
        </p:nvSpPr>
        <p:spPr>
          <a:xfrm>
            <a:off x="4663440" y="3639312"/>
            <a:ext cx="4206240" cy="246888"/>
          </a:xfrm>
          <a:prstGeom prst="rect">
            <a:avLst/>
          </a:prstGeom>
          <a:solidFill>
            <a:srgbClr val="2C5282"/>
          </a:solidFill>
          <a:ln w="12700">
            <a:solidFill>
              <a:srgbClr val="2C5282"/>
            </a:solidFill>
            <a:prstDash val="solid"/>
          </a:ln>
        </p:spPr>
        <p:txBody>
          <a:bodyPr/>
          <a:lstStyle/>
          <a:p>
            <a:endParaRPr lang="en-US"/>
          </a:p>
        </p:txBody>
      </p:sp>
      <p:sp>
        <p:nvSpPr>
          <p:cNvPr id="37" name="Text 35"/>
          <p:cNvSpPr/>
          <p:nvPr/>
        </p:nvSpPr>
        <p:spPr>
          <a:xfrm>
            <a:off x="4754880" y="3639312"/>
            <a:ext cx="4023360" cy="24688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President ordering (LLM signal)</a:t>
            </a:r>
            <a:endParaRPr lang="en-US" sz="900" dirty="0"/>
          </a:p>
        </p:txBody>
      </p:sp>
      <p:sp>
        <p:nvSpPr>
          <p:cNvPr id="38" name="Text 36"/>
          <p:cNvSpPr/>
          <p:nvPr/>
        </p:nvSpPr>
        <p:spPr>
          <a:xfrm>
            <a:off x="4754880" y="3904488"/>
            <a:ext cx="4023360" cy="502920"/>
          </a:xfrm>
          <a:prstGeom prst="rect">
            <a:avLst/>
          </a:prstGeom>
          <a:noFill/>
          <a:ln/>
        </p:spPr>
        <p:txBody>
          <a:bodyPr wrap="square" rtlCol="0" anchor="t"/>
          <a:lstStyle/>
          <a:p>
            <a:pPr marL="0" indent="0">
              <a:buNone/>
            </a:pPr>
            <a:r>
              <a:rPr lang="en-US" sz="900" dirty="0">
                <a:solidFill>
                  <a:srgbClr val="1A202C"/>
                </a:solidFill>
                <a:latin typeface="Calibri" pitchFamily="34" charset="0"/>
                <a:ea typeface="Calibri" pitchFamily="34" charset="-122"/>
                <a:cs typeface="Calibri" pitchFamily="34" charset="-120"/>
              </a:rPr>
              <a:t>Milei +1.29z  &gt;  Macri +0.18z  &gt;  AF −0.98z</a:t>
            </a:r>
            <a:endParaRPr lang="en-US" sz="900" dirty="0"/>
          </a:p>
          <a:p>
            <a:pPr marL="0" indent="0">
              <a:buNone/>
            </a:pPr>
            <a:r>
              <a:rPr lang="en-US" sz="900" dirty="0">
                <a:solidFill>
                  <a:srgbClr val="1A202C"/>
                </a:solidFill>
                <a:latin typeface="Calibri" pitchFamily="34" charset="0"/>
                <a:ea typeface="Calibri" pitchFamily="34" charset="-122"/>
                <a:cs typeface="Calibri" pitchFamily="34" charset="-120"/>
              </a:rPr>
              <a:t>Milei–AF gap: 2.27 z-units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2C5282"/>
          </a:solidFill>
          <a:ln w="12700">
            <a:solidFill>
              <a:srgbClr val="2C5282"/>
            </a:solidFill>
            <a:prstDash val="solid"/>
          </a:ln>
        </p:spPr>
        <p:txBody>
          <a:bodyPr/>
          <a:lstStyle/>
          <a:p>
            <a:endParaRPr lang="en-US"/>
          </a:p>
        </p:txBody>
      </p:sp>
      <p:sp>
        <p:nvSpPr>
          <p:cNvPr id="3" name="Text 1"/>
          <p:cNvSpPr/>
          <p:nvPr/>
        </p:nvSpPr>
        <p:spPr>
          <a:xfrm>
            <a:off x="274320" y="0"/>
            <a:ext cx="868680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Signal Construction III — Speech Corpus &amp; Topics</a:t>
            </a:r>
            <a:endParaRPr lang="en-US" sz="1600" dirty="0"/>
          </a:p>
        </p:txBody>
      </p:sp>
      <p:sp>
        <p:nvSpPr>
          <p:cNvPr id="4" name="Text 2"/>
          <p:cNvSpPr/>
          <p:nvPr/>
        </p:nvSpPr>
        <p:spPr>
          <a:xfrm>
            <a:off x="274320" y="4901184"/>
            <a:ext cx="6858000" cy="182880"/>
          </a:xfrm>
          <a:prstGeom prst="rect">
            <a:avLst/>
          </a:prstGeom>
          <a:noFill/>
          <a:ln/>
        </p:spPr>
        <p:txBody>
          <a:bodyPr wrap="square" rtlCol="0" anchor="ctr"/>
          <a:lstStyle/>
          <a:p>
            <a:pPr marL="0" indent="0">
              <a:buNone/>
            </a:pPr>
            <a:r>
              <a:rPr lang="en-US" sz="750" dirty="0">
                <a:solidFill>
                  <a:srgbClr val="718096"/>
                </a:solidFill>
                <a:latin typeface="Calibri" pitchFamily="34" charset="0"/>
                <a:ea typeface="Calibri" pitchFamily="34" charset="-122"/>
                <a:cs typeface="Calibri" pitchFamily="34" charset="-120"/>
              </a:rPr>
              <a:t>Kazi, Eviston, Rubiano  ·  BSE Masters 2026</a:t>
            </a:r>
            <a:endParaRPr lang="en-US" sz="750" dirty="0"/>
          </a:p>
        </p:txBody>
      </p:sp>
      <p:sp>
        <p:nvSpPr>
          <p:cNvPr id="5" name="Text 3"/>
          <p:cNvSpPr/>
          <p:nvPr/>
        </p:nvSpPr>
        <p:spPr>
          <a:xfrm>
            <a:off x="8046720" y="4901184"/>
            <a:ext cx="914400" cy="182880"/>
          </a:xfrm>
          <a:prstGeom prst="rect">
            <a:avLst/>
          </a:prstGeom>
          <a:noFill/>
          <a:ln/>
        </p:spPr>
        <p:txBody>
          <a:bodyPr wrap="square" rtlCol="0" anchor="ctr"/>
          <a:lstStyle/>
          <a:p>
            <a:pPr marL="0" indent="0" algn="r">
              <a:buNone/>
            </a:pPr>
            <a:r>
              <a:rPr lang="en-US" sz="750" dirty="0">
                <a:solidFill>
                  <a:srgbClr val="718096"/>
                </a:solidFill>
                <a:latin typeface="Calibri" pitchFamily="34" charset="0"/>
                <a:ea typeface="Calibri" pitchFamily="34" charset="-122"/>
                <a:cs typeface="Calibri" pitchFamily="34" charset="-120"/>
              </a:rPr>
              <a:t>5 / 12</a:t>
            </a:r>
            <a:endParaRPr lang="en-US" sz="750" dirty="0"/>
          </a:p>
        </p:txBody>
      </p:sp>
      <p:sp>
        <p:nvSpPr>
          <p:cNvPr id="6" name="Text 4"/>
          <p:cNvSpPr/>
          <p:nvPr/>
        </p:nvSpPr>
        <p:spPr>
          <a:xfrm>
            <a:off x="274320" y="576072"/>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LDA topic model (validation role only)</a:t>
            </a:r>
            <a:endParaRPr lang="en-US" sz="1100" dirty="0"/>
          </a:p>
        </p:txBody>
      </p:sp>
      <p:sp>
        <p:nvSpPr>
          <p:cNvPr id="7" name="Text 5"/>
          <p:cNvSpPr/>
          <p:nvPr/>
        </p:nvSpPr>
        <p:spPr>
          <a:xfrm>
            <a:off x="274320" y="850392"/>
            <a:ext cx="4206240" cy="502920"/>
          </a:xfrm>
          <a:prstGeom prst="rect">
            <a:avLst/>
          </a:prstGeom>
          <a:noFill/>
          <a:ln/>
        </p:spPr>
        <p:txBody>
          <a:bodyPr wrap="square" rtlCol="0" anchor="t"/>
          <a:lstStyle/>
          <a:p>
            <a:pPr marL="0" indent="0">
              <a:buNone/>
            </a:pPr>
            <a:r>
              <a:rPr lang="en-US" sz="1000" dirty="0">
                <a:solidFill>
                  <a:srgbClr val="1A202C"/>
                </a:solidFill>
                <a:latin typeface="Calibri" pitchFamily="34" charset="0"/>
                <a:ea typeface="Calibri" pitchFamily="34" charset="-122"/>
                <a:cs typeface="Calibri" pitchFamily="34" charset="-120"/>
              </a:rPr>
              <a:t>Gensim LDA, grid search k ∈ {5,8,10,12,15,20}, selected by cv coherence on held-out split. Recovers a distinct fiscal/monetary topic.</a:t>
            </a:r>
            <a:endParaRPr lang="en-US" sz="1000" dirty="0"/>
          </a:p>
        </p:txBody>
      </p:sp>
      <p:sp>
        <p:nvSpPr>
          <p:cNvPr id="8" name="Text 6"/>
          <p:cNvSpPr/>
          <p:nvPr/>
        </p:nvSpPr>
        <p:spPr>
          <a:xfrm>
            <a:off x="274320" y="1380744"/>
            <a:ext cx="4206240" cy="777240"/>
          </a:xfrm>
          <a:prstGeom prst="rect">
            <a:avLst/>
          </a:prstGeom>
          <a:noFill/>
          <a:ln/>
        </p:spPr>
        <p:txBody>
          <a:bodyPr wrap="square" rtlCol="0" anchor="t"/>
          <a:lstStyle/>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Narrative exhibit — top-k words per topic</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Model-free check: fiscal topic share correlates with dictionary signal</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Distribution of hawkish/dovish hits across topics</a:t>
            </a:r>
            <a:endParaRPr lang="en-US" sz="1000" dirty="0"/>
          </a:p>
        </p:txBody>
      </p:sp>
      <p:sp>
        <p:nvSpPr>
          <p:cNvPr id="9" name="Text 7"/>
          <p:cNvSpPr/>
          <p:nvPr/>
        </p:nvSpPr>
        <p:spPr>
          <a:xfrm>
            <a:off x="274320" y="2176272"/>
            <a:ext cx="4206240" cy="274320"/>
          </a:xfrm>
          <a:prstGeom prst="rect">
            <a:avLst/>
          </a:prstGeom>
          <a:noFill/>
          <a:ln/>
        </p:spPr>
        <p:txBody>
          <a:bodyPr wrap="square" rtlCol="0" anchor="ctr"/>
          <a:lstStyle/>
          <a:p>
            <a:pPr marL="0" indent="0">
              <a:buNone/>
            </a:pPr>
            <a:r>
              <a:rPr lang="en-US" sz="950" b="1" dirty="0">
                <a:solidFill>
                  <a:srgbClr val="4A5568"/>
                </a:solidFill>
                <a:latin typeface="Calibri" pitchFamily="34" charset="0"/>
                <a:ea typeface="Calibri" pitchFamily="34" charset="-122"/>
                <a:cs typeface="Calibri" pitchFamily="34" charset="-120"/>
              </a:rPr>
              <a:t>Not load-bearing for scoring — keyword filter replaced LDA threshold in v8.</a:t>
            </a:r>
            <a:endParaRPr lang="en-US" sz="950" dirty="0"/>
          </a:p>
        </p:txBody>
      </p:sp>
      <p:sp>
        <p:nvSpPr>
          <p:cNvPr id="10" name="Text 8"/>
          <p:cNvSpPr/>
          <p:nvPr/>
        </p:nvSpPr>
        <p:spPr>
          <a:xfrm>
            <a:off x="274320" y="2487168"/>
            <a:ext cx="4206240" cy="256032"/>
          </a:xfrm>
          <a:prstGeom prst="rect">
            <a:avLst/>
          </a:prstGeom>
          <a:noFill/>
          <a:ln/>
        </p:spPr>
        <p:txBody>
          <a:bodyPr wrap="square" rtlCol="0" anchor="ctr"/>
          <a:lstStyle/>
          <a:p>
            <a:pPr marL="0" indent="0">
              <a:buNone/>
            </a:pPr>
            <a:r>
              <a:rPr lang="en-US" sz="1000" b="1" u="sng" dirty="0">
                <a:solidFill>
                  <a:srgbClr val="C53030"/>
                </a:solidFill>
                <a:latin typeface="Calibri" pitchFamily="34" charset="0"/>
                <a:ea typeface="Calibri" pitchFamily="34" charset="-122"/>
                <a:cs typeface="Calibri" pitchFamily="34" charset="-120"/>
              </a:rPr>
              <a:t>→ Interactive LDA visualisation (replace with link)</a:t>
            </a:r>
            <a:endParaRPr lang="en-US" sz="1000" dirty="0"/>
          </a:p>
        </p:txBody>
      </p:sp>
      <p:sp>
        <p:nvSpPr>
          <p:cNvPr id="11" name="Text 9"/>
          <p:cNvSpPr/>
          <p:nvPr/>
        </p:nvSpPr>
        <p:spPr>
          <a:xfrm>
            <a:off x="274320" y="2798064"/>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Distinct discourse styles</a:t>
            </a:r>
            <a:endParaRPr lang="en-US" sz="1100" dirty="0"/>
          </a:p>
        </p:txBody>
      </p:sp>
      <p:sp>
        <p:nvSpPr>
          <p:cNvPr id="12" name="Text 10"/>
          <p:cNvSpPr/>
          <p:nvPr/>
        </p:nvSpPr>
        <p:spPr>
          <a:xfrm>
            <a:off x="274320" y="3072384"/>
            <a:ext cx="4206240" cy="914400"/>
          </a:xfrm>
          <a:prstGeom prst="rect">
            <a:avLst/>
          </a:prstGeom>
          <a:noFill/>
          <a:ln/>
        </p:spPr>
        <p:txBody>
          <a:bodyPr wrap="square" rtlCol="0" anchor="t"/>
          <a:lstStyle/>
          <a:p>
            <a:pPr marL="0" indent="0">
              <a:buNone/>
            </a:pPr>
            <a:r>
              <a:rPr lang="en-US" sz="1000" b="1" dirty="0">
                <a:solidFill>
                  <a:srgbClr val="1A202C"/>
                </a:solidFill>
                <a:latin typeface="Calibri" pitchFamily="34" charset="0"/>
                <a:ea typeface="Calibri" pitchFamily="34" charset="-122"/>
                <a:cs typeface="Calibri" pitchFamily="34" charset="-120"/>
              </a:rPr>
              <a:t>Macri:</a:t>
            </a:r>
            <a:r>
              <a:rPr lang="en-US" sz="1000" dirty="0">
                <a:solidFill>
                  <a:srgbClr val="1A202C"/>
                </a:solidFill>
                <a:latin typeface="Calibri" pitchFamily="34" charset="0"/>
                <a:ea typeface="Calibri" pitchFamily="34" charset="-122"/>
                <a:cs typeface="Calibri" pitchFamily="34" charset="-120"/>
              </a:rPr>
              <a:t> fiscal-accounting vocabulary; gradualist framing
</a:t>
            </a:r>
            <a:r>
              <a:rPr lang="en-US" sz="1000" b="1" dirty="0">
                <a:solidFill>
                  <a:srgbClr val="1A202C"/>
                </a:solidFill>
                <a:latin typeface="Calibri" pitchFamily="34" charset="0"/>
                <a:ea typeface="Calibri" pitchFamily="34" charset="-122"/>
                <a:cs typeface="Calibri" pitchFamily="34" charset="-120"/>
              </a:rPr>
              <a:t>Fernández:</a:t>
            </a:r>
            <a:r>
              <a:rPr lang="en-US" sz="1000" dirty="0">
                <a:solidFill>
                  <a:srgbClr val="1A202C"/>
                </a:solidFill>
                <a:latin typeface="Calibri" pitchFamily="34" charset="0"/>
                <a:ea typeface="Calibri" pitchFamily="34" charset="-122"/>
                <a:cs typeface="Calibri" pitchFamily="34" charset="-120"/>
              </a:rPr>
              <a:t> social contract; obra pública; IMF negotiations
</a:t>
            </a:r>
            <a:r>
              <a:rPr lang="en-US" sz="1000" b="1" dirty="0">
                <a:solidFill>
                  <a:srgbClr val="1A202C"/>
                </a:solidFill>
                <a:latin typeface="Calibri" pitchFamily="34" charset="0"/>
                <a:ea typeface="Calibri" pitchFamily="34" charset="-122"/>
                <a:cs typeface="Calibri" pitchFamily="34" charset="-120"/>
              </a:rPr>
              <a:t>Milei:</a:t>
            </a:r>
            <a:r>
              <a:rPr lang="en-US" sz="1000" dirty="0">
                <a:solidFill>
                  <a:srgbClr val="1A202C"/>
                </a:solidFill>
                <a:latin typeface="Calibri" pitchFamily="34" charset="0"/>
                <a:ea typeface="Calibri" pitchFamily="34" charset="-122"/>
                <a:cs typeface="Calibri" pitchFamily="34" charset="-120"/>
              </a:rPr>
              <a:t> libertarian philosophy; monetary emission = poverty</a:t>
            </a:r>
            <a:endParaRPr lang="en-US" sz="1000" dirty="0"/>
          </a:p>
        </p:txBody>
      </p:sp>
      <p:sp>
        <p:nvSpPr>
          <p:cNvPr id="13" name="Text 11"/>
          <p:cNvSpPr/>
          <p:nvPr/>
        </p:nvSpPr>
        <p:spPr>
          <a:xfrm>
            <a:off x="4572000" y="576072"/>
            <a:ext cx="429768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Word clouds by president</a:t>
            </a:r>
            <a:endParaRPr lang="en-US" sz="1100" dirty="0"/>
          </a:p>
        </p:txBody>
      </p:sp>
      <p:sp>
        <p:nvSpPr>
          <p:cNvPr id="14" name="Shape 12"/>
          <p:cNvSpPr/>
          <p:nvPr/>
        </p:nvSpPr>
        <p:spPr>
          <a:xfrm>
            <a:off x="4572000" y="868680"/>
            <a:ext cx="2057400" cy="1417320"/>
          </a:xfrm>
          <a:prstGeom prst="rect">
            <a:avLst/>
          </a:prstGeom>
          <a:solidFill>
            <a:srgbClr val="EBF4FF"/>
          </a:solidFill>
          <a:ln w="12700">
            <a:solidFill>
              <a:srgbClr val="2C5282"/>
            </a:solidFill>
            <a:prstDash val="dash"/>
          </a:ln>
        </p:spPr>
        <p:txBody>
          <a:bodyPr/>
          <a:lstStyle/>
          <a:p>
            <a:endParaRPr lang="en-US"/>
          </a:p>
        </p:txBody>
      </p:sp>
      <p:sp>
        <p:nvSpPr>
          <p:cNvPr id="15" name="Text 13"/>
          <p:cNvSpPr/>
          <p:nvPr/>
        </p:nvSpPr>
        <p:spPr>
          <a:xfrm>
            <a:off x="4572000" y="868680"/>
            <a:ext cx="2057400" cy="1417320"/>
          </a:xfrm>
          <a:prstGeom prst="rect">
            <a:avLst/>
          </a:prstGeom>
          <a:noFill/>
          <a:ln/>
        </p:spPr>
        <p:txBody>
          <a:bodyPr wrap="square" rtlCol="0" anchor="ctr"/>
          <a:lstStyle/>
          <a:p>
            <a:pPr marL="0" indent="0" algn="ctr">
              <a:buNone/>
            </a:pPr>
            <a:r>
              <a:rPr lang="en-US" sz="900" i="1" dirty="0">
                <a:solidFill>
                  <a:srgbClr val="4A5568"/>
                </a:solidFill>
                <a:latin typeface="Calibri" pitchFamily="34" charset="0"/>
                <a:ea typeface="Calibri" pitchFamily="34" charset="-122"/>
                <a:cs typeface="Calibri" pitchFamily="34" charset="-120"/>
              </a:rPr>
              <a:t>[Insert: wordcloud_macri.png]</a:t>
            </a:r>
            <a:endParaRPr lang="en-US" sz="900" dirty="0"/>
          </a:p>
        </p:txBody>
      </p:sp>
      <p:sp>
        <p:nvSpPr>
          <p:cNvPr id="16" name="Text 14"/>
          <p:cNvSpPr/>
          <p:nvPr/>
        </p:nvSpPr>
        <p:spPr>
          <a:xfrm>
            <a:off x="4572000" y="2313432"/>
            <a:ext cx="2057400" cy="201168"/>
          </a:xfrm>
          <a:prstGeom prst="rect">
            <a:avLst/>
          </a:prstGeom>
          <a:noFill/>
          <a:ln/>
        </p:spPr>
        <p:txBody>
          <a:bodyPr wrap="square" rtlCol="0" anchor="ctr"/>
          <a:lstStyle/>
          <a:p>
            <a:pPr marL="0" indent="0" algn="ctr">
              <a:buNone/>
            </a:pPr>
            <a:r>
              <a:rPr lang="en-US" sz="900" dirty="0">
                <a:solidFill>
                  <a:srgbClr val="4A5568"/>
                </a:solidFill>
                <a:latin typeface="Calibri" pitchFamily="34" charset="0"/>
                <a:ea typeface="Calibri" pitchFamily="34" charset="-122"/>
                <a:cs typeface="Calibri" pitchFamily="34" charset="-120"/>
              </a:rPr>
              <a:t>Macri</a:t>
            </a:r>
            <a:endParaRPr lang="en-US" sz="900" dirty="0"/>
          </a:p>
        </p:txBody>
      </p:sp>
      <p:sp>
        <p:nvSpPr>
          <p:cNvPr id="17" name="Shape 15"/>
          <p:cNvSpPr/>
          <p:nvPr/>
        </p:nvSpPr>
        <p:spPr>
          <a:xfrm>
            <a:off x="6812280" y="868680"/>
            <a:ext cx="2057400" cy="1417320"/>
          </a:xfrm>
          <a:prstGeom prst="rect">
            <a:avLst/>
          </a:prstGeom>
          <a:solidFill>
            <a:srgbClr val="EBF4FF"/>
          </a:solidFill>
          <a:ln w="12700">
            <a:solidFill>
              <a:srgbClr val="2C5282"/>
            </a:solidFill>
            <a:prstDash val="dash"/>
          </a:ln>
        </p:spPr>
        <p:txBody>
          <a:bodyPr/>
          <a:lstStyle/>
          <a:p>
            <a:endParaRPr lang="en-US"/>
          </a:p>
        </p:txBody>
      </p:sp>
      <p:sp>
        <p:nvSpPr>
          <p:cNvPr id="18" name="Text 16"/>
          <p:cNvSpPr/>
          <p:nvPr/>
        </p:nvSpPr>
        <p:spPr>
          <a:xfrm>
            <a:off x="6812280" y="868680"/>
            <a:ext cx="2057400" cy="1417320"/>
          </a:xfrm>
          <a:prstGeom prst="rect">
            <a:avLst/>
          </a:prstGeom>
          <a:noFill/>
          <a:ln/>
        </p:spPr>
        <p:txBody>
          <a:bodyPr wrap="square" rtlCol="0" anchor="ctr"/>
          <a:lstStyle/>
          <a:p>
            <a:pPr marL="0" indent="0" algn="ctr">
              <a:buNone/>
            </a:pPr>
            <a:r>
              <a:rPr lang="en-US" sz="900" i="1" dirty="0">
                <a:solidFill>
                  <a:srgbClr val="4A5568"/>
                </a:solidFill>
                <a:latin typeface="Calibri" pitchFamily="34" charset="0"/>
                <a:ea typeface="Calibri" pitchFamily="34" charset="-122"/>
                <a:cs typeface="Calibri" pitchFamily="34" charset="-120"/>
              </a:rPr>
              <a:t>[Insert: wordcloud_af.png]</a:t>
            </a:r>
            <a:endParaRPr lang="en-US" sz="900" dirty="0"/>
          </a:p>
        </p:txBody>
      </p:sp>
      <p:sp>
        <p:nvSpPr>
          <p:cNvPr id="19" name="Text 17"/>
          <p:cNvSpPr/>
          <p:nvPr/>
        </p:nvSpPr>
        <p:spPr>
          <a:xfrm>
            <a:off x="6812280" y="2313432"/>
            <a:ext cx="2057400" cy="201168"/>
          </a:xfrm>
          <a:prstGeom prst="rect">
            <a:avLst/>
          </a:prstGeom>
          <a:noFill/>
          <a:ln/>
        </p:spPr>
        <p:txBody>
          <a:bodyPr wrap="square" rtlCol="0" anchor="ctr"/>
          <a:lstStyle/>
          <a:p>
            <a:pPr marL="0" indent="0" algn="ctr">
              <a:buNone/>
            </a:pPr>
            <a:r>
              <a:rPr lang="en-US" sz="900" dirty="0">
                <a:solidFill>
                  <a:srgbClr val="4A5568"/>
                </a:solidFill>
                <a:latin typeface="Calibri" pitchFamily="34" charset="0"/>
                <a:ea typeface="Calibri" pitchFamily="34" charset="-122"/>
                <a:cs typeface="Calibri" pitchFamily="34" charset="-120"/>
              </a:rPr>
              <a:t>Fernández</a:t>
            </a:r>
            <a:endParaRPr lang="en-US" sz="900" dirty="0"/>
          </a:p>
        </p:txBody>
      </p:sp>
      <p:sp>
        <p:nvSpPr>
          <p:cNvPr id="20" name="Shape 18"/>
          <p:cNvSpPr/>
          <p:nvPr/>
        </p:nvSpPr>
        <p:spPr>
          <a:xfrm>
            <a:off x="4572000" y="2578608"/>
            <a:ext cx="4297680" cy="1737360"/>
          </a:xfrm>
          <a:prstGeom prst="rect">
            <a:avLst/>
          </a:prstGeom>
          <a:solidFill>
            <a:srgbClr val="EBF4FF"/>
          </a:solidFill>
          <a:ln w="12700">
            <a:solidFill>
              <a:srgbClr val="2C5282"/>
            </a:solidFill>
            <a:prstDash val="dash"/>
          </a:ln>
        </p:spPr>
        <p:txBody>
          <a:bodyPr/>
          <a:lstStyle/>
          <a:p>
            <a:endParaRPr lang="en-US"/>
          </a:p>
        </p:txBody>
      </p:sp>
      <p:sp>
        <p:nvSpPr>
          <p:cNvPr id="21" name="Text 19"/>
          <p:cNvSpPr/>
          <p:nvPr/>
        </p:nvSpPr>
        <p:spPr>
          <a:xfrm>
            <a:off x="4572000" y="2578608"/>
            <a:ext cx="4297680" cy="1737360"/>
          </a:xfrm>
          <a:prstGeom prst="rect">
            <a:avLst/>
          </a:prstGeom>
          <a:noFill/>
          <a:ln/>
        </p:spPr>
        <p:txBody>
          <a:bodyPr wrap="square" rtlCol="0" anchor="ctr"/>
          <a:lstStyle/>
          <a:p>
            <a:pPr marL="0" indent="0" algn="ctr">
              <a:buNone/>
            </a:pPr>
            <a:r>
              <a:rPr lang="en-US" sz="900" i="1" dirty="0">
                <a:solidFill>
                  <a:srgbClr val="4A5568"/>
                </a:solidFill>
                <a:latin typeface="Calibri" pitchFamily="34" charset="0"/>
                <a:ea typeface="Calibri" pitchFamily="34" charset="-122"/>
                <a:cs typeface="Calibri" pitchFamily="34" charset="-120"/>
              </a:rPr>
              <a:t>[Insert: wordcloud_milei.png]</a:t>
            </a:r>
            <a:endParaRPr lang="en-US" sz="900" dirty="0"/>
          </a:p>
        </p:txBody>
      </p:sp>
      <p:sp>
        <p:nvSpPr>
          <p:cNvPr id="22" name="Text 20"/>
          <p:cNvSpPr/>
          <p:nvPr/>
        </p:nvSpPr>
        <p:spPr>
          <a:xfrm>
            <a:off x="4572000" y="4343400"/>
            <a:ext cx="4297680" cy="201168"/>
          </a:xfrm>
          <a:prstGeom prst="rect">
            <a:avLst/>
          </a:prstGeom>
          <a:noFill/>
          <a:ln/>
        </p:spPr>
        <p:txBody>
          <a:bodyPr wrap="square" rtlCol="0" anchor="ctr"/>
          <a:lstStyle/>
          <a:p>
            <a:pPr marL="0" indent="0" algn="ctr">
              <a:buNone/>
            </a:pPr>
            <a:r>
              <a:rPr lang="en-US" sz="900" dirty="0">
                <a:solidFill>
                  <a:srgbClr val="4A5568"/>
                </a:solidFill>
                <a:latin typeface="Calibri" pitchFamily="34" charset="0"/>
                <a:ea typeface="Calibri" pitchFamily="34" charset="-122"/>
                <a:cs typeface="Calibri" pitchFamily="34" charset="-120"/>
              </a:rPr>
              <a:t>Milei</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2C5282"/>
          </a:solidFill>
          <a:ln w="12700">
            <a:solidFill>
              <a:srgbClr val="2C5282"/>
            </a:solidFill>
            <a:prstDash val="solid"/>
          </a:ln>
        </p:spPr>
        <p:txBody>
          <a:bodyPr/>
          <a:lstStyle/>
          <a:p>
            <a:endParaRPr lang="en-US"/>
          </a:p>
        </p:txBody>
      </p:sp>
      <p:sp>
        <p:nvSpPr>
          <p:cNvPr id="3" name="Text 1"/>
          <p:cNvSpPr/>
          <p:nvPr/>
        </p:nvSpPr>
        <p:spPr>
          <a:xfrm>
            <a:off x="274320" y="0"/>
            <a:ext cx="868680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Signal Results &amp; Immediate Next Steps</a:t>
            </a:r>
            <a:endParaRPr lang="en-US" sz="1600" dirty="0"/>
          </a:p>
        </p:txBody>
      </p:sp>
      <p:sp>
        <p:nvSpPr>
          <p:cNvPr id="4" name="Text 2"/>
          <p:cNvSpPr/>
          <p:nvPr/>
        </p:nvSpPr>
        <p:spPr>
          <a:xfrm>
            <a:off x="274320" y="4901184"/>
            <a:ext cx="6858000" cy="182880"/>
          </a:xfrm>
          <a:prstGeom prst="rect">
            <a:avLst/>
          </a:prstGeom>
          <a:noFill/>
          <a:ln/>
        </p:spPr>
        <p:txBody>
          <a:bodyPr wrap="square" rtlCol="0" anchor="ctr"/>
          <a:lstStyle/>
          <a:p>
            <a:pPr marL="0" indent="0">
              <a:buNone/>
            </a:pPr>
            <a:r>
              <a:rPr lang="en-US" sz="750" dirty="0">
                <a:solidFill>
                  <a:srgbClr val="718096"/>
                </a:solidFill>
                <a:latin typeface="Calibri" pitchFamily="34" charset="0"/>
                <a:ea typeface="Calibri" pitchFamily="34" charset="-122"/>
                <a:cs typeface="Calibri" pitchFamily="34" charset="-120"/>
              </a:rPr>
              <a:t>Kazi, Eviston, Rubiano  ·  BSE Masters 2026</a:t>
            </a:r>
            <a:endParaRPr lang="en-US" sz="750" dirty="0"/>
          </a:p>
        </p:txBody>
      </p:sp>
      <p:sp>
        <p:nvSpPr>
          <p:cNvPr id="5" name="Text 3"/>
          <p:cNvSpPr/>
          <p:nvPr/>
        </p:nvSpPr>
        <p:spPr>
          <a:xfrm>
            <a:off x="8046720" y="4901184"/>
            <a:ext cx="914400" cy="182880"/>
          </a:xfrm>
          <a:prstGeom prst="rect">
            <a:avLst/>
          </a:prstGeom>
          <a:noFill/>
          <a:ln/>
        </p:spPr>
        <p:txBody>
          <a:bodyPr wrap="square" rtlCol="0" anchor="ctr"/>
          <a:lstStyle/>
          <a:p>
            <a:pPr marL="0" indent="0" algn="r">
              <a:buNone/>
            </a:pPr>
            <a:r>
              <a:rPr lang="en-US" sz="750" dirty="0">
                <a:solidFill>
                  <a:srgbClr val="718096"/>
                </a:solidFill>
                <a:latin typeface="Calibri" pitchFamily="34" charset="0"/>
                <a:ea typeface="Calibri" pitchFamily="34" charset="-122"/>
                <a:cs typeface="Calibri" pitchFamily="34" charset="-120"/>
              </a:rPr>
              <a:t>6 / 12</a:t>
            </a:r>
            <a:endParaRPr lang="en-US" sz="750" dirty="0"/>
          </a:p>
        </p:txBody>
      </p:sp>
      <p:sp>
        <p:nvSpPr>
          <p:cNvPr id="6" name="Shape 4"/>
          <p:cNvSpPr/>
          <p:nvPr/>
        </p:nvSpPr>
        <p:spPr>
          <a:xfrm>
            <a:off x="274320" y="576072"/>
            <a:ext cx="4206240" cy="4224528"/>
          </a:xfrm>
          <a:prstGeom prst="rect">
            <a:avLst/>
          </a:prstGeom>
          <a:solidFill>
            <a:srgbClr val="EBF4FF"/>
          </a:solidFill>
          <a:ln w="12700">
            <a:solidFill>
              <a:srgbClr val="2C5282"/>
            </a:solidFill>
            <a:prstDash val="solid"/>
          </a:ln>
        </p:spPr>
        <p:txBody>
          <a:bodyPr/>
          <a:lstStyle/>
          <a:p>
            <a:endParaRPr lang="en-US"/>
          </a:p>
        </p:txBody>
      </p:sp>
      <p:sp>
        <p:nvSpPr>
          <p:cNvPr id="7" name="Shape 5"/>
          <p:cNvSpPr/>
          <p:nvPr/>
        </p:nvSpPr>
        <p:spPr>
          <a:xfrm>
            <a:off x="274320" y="576072"/>
            <a:ext cx="4206240" cy="246888"/>
          </a:xfrm>
          <a:prstGeom prst="rect">
            <a:avLst/>
          </a:prstGeom>
          <a:solidFill>
            <a:srgbClr val="2C5282"/>
          </a:solidFill>
          <a:ln w="12700">
            <a:solidFill>
              <a:srgbClr val="2C5282"/>
            </a:solidFill>
            <a:prstDash val="solid"/>
          </a:ln>
        </p:spPr>
        <p:txBody>
          <a:bodyPr/>
          <a:lstStyle/>
          <a:p>
            <a:endParaRPr lang="en-US"/>
          </a:p>
        </p:txBody>
      </p:sp>
      <p:sp>
        <p:nvSpPr>
          <p:cNvPr id="8" name="Text 6"/>
          <p:cNvSpPr/>
          <p:nvPr/>
        </p:nvSpPr>
        <p:spPr>
          <a:xfrm>
            <a:off x="365760" y="576072"/>
            <a:ext cx="4023360" cy="24688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Monthly hawkishness signal — v8</a:t>
            </a:r>
            <a:endParaRPr lang="en-US" sz="900" dirty="0"/>
          </a:p>
        </p:txBody>
      </p:sp>
      <p:sp>
        <p:nvSpPr>
          <p:cNvPr id="9" name="Text 7"/>
          <p:cNvSpPr/>
          <p:nvPr/>
        </p:nvSpPr>
        <p:spPr>
          <a:xfrm>
            <a:off x="365760" y="841248"/>
            <a:ext cx="4023360" cy="3922776"/>
          </a:xfrm>
          <a:prstGeom prst="rect">
            <a:avLst/>
          </a:prstGeom>
          <a:noFill/>
          <a:ln/>
        </p:spPr>
        <p:txBody>
          <a:bodyPr wrap="square" rtlCol="0" anchor="t"/>
          <a:lstStyle/>
          <a:p>
            <a:pPr marL="0" indent="0">
              <a:buNone/>
            </a:pPr>
            <a:endParaRPr lang="en-US" sz="900" dirty="0"/>
          </a:p>
        </p:txBody>
      </p:sp>
      <p:sp>
        <p:nvSpPr>
          <p:cNvPr id="10" name="Shape 8"/>
          <p:cNvSpPr/>
          <p:nvPr/>
        </p:nvSpPr>
        <p:spPr>
          <a:xfrm>
            <a:off x="274320" y="914400"/>
            <a:ext cx="4206240" cy="3794760"/>
          </a:xfrm>
          <a:prstGeom prst="rect">
            <a:avLst/>
          </a:prstGeom>
          <a:solidFill>
            <a:srgbClr val="EBF4FF"/>
          </a:solidFill>
          <a:ln w="12700">
            <a:solidFill>
              <a:srgbClr val="2C5282"/>
            </a:solidFill>
            <a:prstDash val="dash"/>
          </a:ln>
        </p:spPr>
        <p:txBody>
          <a:bodyPr/>
          <a:lstStyle/>
          <a:p>
            <a:endParaRPr lang="en-US"/>
          </a:p>
        </p:txBody>
      </p:sp>
      <p:sp>
        <p:nvSpPr>
          <p:cNvPr id="11" name="Text 9"/>
          <p:cNvSpPr/>
          <p:nvPr/>
        </p:nvSpPr>
        <p:spPr>
          <a:xfrm>
            <a:off x="274320" y="914400"/>
            <a:ext cx="4206240" cy="3794760"/>
          </a:xfrm>
          <a:prstGeom prst="rect">
            <a:avLst/>
          </a:prstGeom>
          <a:noFill/>
          <a:ln/>
        </p:spPr>
        <p:txBody>
          <a:bodyPr wrap="square" rtlCol="0" anchor="ctr"/>
          <a:lstStyle/>
          <a:p>
            <a:pPr marL="0" indent="0" algn="ctr">
              <a:buNone/>
            </a:pPr>
            <a:r>
              <a:rPr lang="en-US" sz="900" i="1" dirty="0">
                <a:solidFill>
                  <a:srgbClr val="4A5568"/>
                </a:solidFill>
                <a:latin typeface="Calibri" pitchFamily="34" charset="0"/>
                <a:ea typeface="Calibri" pitchFamily="34" charset="-122"/>
                <a:cs typeface="Calibri" pitchFamily="34" charset="-120"/>
              </a:rPr>
              <a:t>[Insert: llm_vs_dict_signal.png</a:t>
            </a:r>
            <a:endParaRPr lang="en-US" sz="900" dirty="0"/>
          </a:p>
          <a:p>
            <a:pPr marL="0" indent="0" algn="ctr">
              <a:buNone/>
            </a:pPr>
            <a:r>
              <a:rPr lang="en-US" sz="900" i="1" dirty="0">
                <a:solidFill>
                  <a:srgbClr val="4A5568"/>
                </a:solidFill>
                <a:latin typeface="Calibri" pitchFamily="34" charset="0"/>
                <a:ea typeface="Calibri" pitchFamily="34" charset="-122"/>
                <a:cs typeface="Calibri" pitchFamily="34" charset="-120"/>
              </a:rPr>
              <a:t>4-panel LLM vs dictionary chart]</a:t>
            </a:r>
            <a:endParaRPr lang="en-US" sz="900" dirty="0"/>
          </a:p>
        </p:txBody>
      </p:sp>
      <p:sp>
        <p:nvSpPr>
          <p:cNvPr id="12" name="Text 10"/>
          <p:cNvSpPr/>
          <p:nvPr/>
        </p:nvSpPr>
        <p:spPr>
          <a:xfrm>
            <a:off x="4663440" y="576072"/>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Summary statistics (LLM signal)</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663440" y="868680"/>
          <a:ext cx="4114800" cy="1170432"/>
        </p:xfrm>
        <a:graphic>
          <a:graphicData uri="http://schemas.openxmlformats.org/drawingml/2006/table">
            <a:tbl>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292608">
                <a:tc>
                  <a:txBody>
                    <a:bodyPr/>
                    <a:lstStyle/>
                    <a:p>
                      <a:pPr marL="0" indent="0">
                        <a:buNone/>
                      </a:pP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282"/>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Mean-z</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282"/>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Std-z</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5282"/>
                    </a:solidFill>
                  </a:tcPr>
                </a:tc>
                <a:extLst>
                  <a:ext uri="{0D108BD9-81ED-4DB2-BD59-A6C34878D82A}">
                    <a16:rowId xmlns:a16="http://schemas.microsoft.com/office/drawing/2014/main" val="10000"/>
                  </a:ext>
                </a:extLst>
              </a:tr>
              <a:tr h="292608">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Macri</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+0.18</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0.62</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buNone/>
                      </a:pPr>
                      <a:r>
                        <a:rPr lang="en-US" sz="900" dirty="0">
                          <a:solidFill>
                            <a:srgbClr val="000000"/>
                          </a:solidFill>
                          <a:latin typeface="Calibri" pitchFamily="34" charset="0"/>
                          <a:ea typeface="Calibri" pitchFamily="34" charset="-122"/>
                          <a:cs typeface="Calibri" pitchFamily="34" charset="-120"/>
                        </a:rPr>
                        <a:t>AF</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−0.98</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0.38</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buNone/>
                      </a:pPr>
                      <a:r>
                        <a:rPr lang="en-US" sz="900" b="1" dirty="0">
                          <a:solidFill>
                            <a:srgbClr val="000000"/>
                          </a:solidFill>
                          <a:latin typeface="Calibri" pitchFamily="34" charset="0"/>
                          <a:ea typeface="Calibri" pitchFamily="34" charset="-122"/>
                          <a:cs typeface="Calibri" pitchFamily="34" charset="-120"/>
                        </a:rPr>
                        <a:t>Milei</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b="1" dirty="0">
                          <a:solidFill>
                            <a:srgbClr val="C53030"/>
                          </a:solidFill>
                          <a:latin typeface="Calibri" pitchFamily="34" charset="0"/>
                          <a:ea typeface="Calibri" pitchFamily="34" charset="-122"/>
                          <a:cs typeface="Calibri" pitchFamily="34" charset="-120"/>
                        </a:rPr>
                        <a:t>+1.29</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0.35</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4" name="Text 11"/>
          <p:cNvSpPr/>
          <p:nvPr/>
        </p:nvSpPr>
        <p:spPr>
          <a:xfrm>
            <a:off x="4663440" y="2121408"/>
            <a:ext cx="4206240" cy="256032"/>
          </a:xfrm>
          <a:prstGeom prst="rect">
            <a:avLst/>
          </a:prstGeom>
          <a:noFill/>
          <a:ln/>
        </p:spPr>
        <p:txBody>
          <a:bodyPr wrap="square" rtlCol="0" anchor="ctr"/>
          <a:lstStyle/>
          <a:p>
            <a:pPr marL="0" indent="0">
              <a:buNone/>
            </a:pPr>
            <a:r>
              <a:rPr lang="en-US" sz="950" b="1" dirty="0">
                <a:solidFill>
                  <a:srgbClr val="1A202C"/>
                </a:solidFill>
                <a:latin typeface="Calibri" pitchFamily="34" charset="0"/>
                <a:ea typeface="Calibri" pitchFamily="34" charset="-122"/>
                <a:cs typeface="Calibri" pitchFamily="34" charset="-120"/>
              </a:rPr>
              <a:t>Cross-validation: ρ = 0.835  (LLM vs dictionary, n=123 months)</a:t>
            </a:r>
            <a:endParaRPr lang="en-US" sz="950" dirty="0"/>
          </a:p>
        </p:txBody>
      </p:sp>
      <p:sp>
        <p:nvSpPr>
          <p:cNvPr id="15" name="Text 12"/>
          <p:cNvSpPr/>
          <p:nvPr/>
        </p:nvSpPr>
        <p:spPr>
          <a:xfrm>
            <a:off x="4663440" y="2487168"/>
            <a:ext cx="4206240" cy="246888"/>
          </a:xfrm>
          <a:prstGeom prst="rect">
            <a:avLst/>
          </a:prstGeom>
          <a:noFill/>
          <a:ln/>
        </p:spPr>
        <p:txBody>
          <a:bodyPr wrap="square" rtlCol="0" anchor="ctr"/>
          <a:lstStyle/>
          <a:p>
            <a:pPr marL="0" indent="0">
              <a:buNone/>
            </a:pPr>
            <a:r>
              <a:rPr lang="en-US" sz="1100" b="1" dirty="0">
                <a:solidFill>
                  <a:srgbClr val="C53030"/>
                </a:solidFill>
                <a:latin typeface="Calibri" pitchFamily="34" charset="0"/>
                <a:ea typeface="Calibri" pitchFamily="34" charset="-122"/>
                <a:cs typeface="Calibri" pitchFamily="34" charset="-120"/>
              </a:rPr>
              <a:t>Immediate next steps</a:t>
            </a:r>
            <a:endParaRPr lang="en-US" sz="1100" dirty="0"/>
          </a:p>
        </p:txBody>
      </p:sp>
      <p:sp>
        <p:nvSpPr>
          <p:cNvPr id="16" name="Text 13"/>
          <p:cNvSpPr/>
          <p:nvPr/>
        </p:nvSpPr>
        <p:spPr>
          <a:xfrm>
            <a:off x="4663440" y="2761488"/>
            <a:ext cx="4206240" cy="1417320"/>
          </a:xfrm>
          <a:prstGeom prst="rect">
            <a:avLst/>
          </a:prstGeom>
          <a:noFill/>
          <a:ln/>
        </p:spPr>
        <p:txBody>
          <a:bodyPr wrap="square" rtlCol="0" anchor="t"/>
          <a:lstStyle/>
          <a:p>
            <a:pPr marL="0" indent="0">
              <a:spcAft>
                <a:spcPts val="800"/>
              </a:spcAft>
              <a:buNone/>
            </a:pPr>
            <a:r>
              <a:rPr lang="en-US" sz="1000" b="1" dirty="0">
                <a:solidFill>
                  <a:srgbClr val="1A202C"/>
                </a:solidFill>
                <a:latin typeface="Calibri" pitchFamily="34" charset="0"/>
                <a:ea typeface="Calibri" pitchFamily="34" charset="-122"/>
                <a:cs typeface="Calibri" pitchFamily="34" charset="-120"/>
              </a:rPr>
              <a:t>1.  Human validation</a:t>
            </a:r>
            <a:r>
              <a:rPr lang="en-US" sz="1000" dirty="0">
                <a:solidFill>
                  <a:srgbClr val="1A202C"/>
                </a:solidFill>
                <a:latin typeface="Calibri" pitchFamily="34" charset="0"/>
                <a:ea typeface="Calibri" pitchFamily="34" charset="-122"/>
                <a:cs typeface="Calibri" pitchFamily="34" charset="-120"/>
              </a:rPr>
              <a:t> ∼60 labeled paragraphs; precision/recall/F1 vs LLM — </a:t>
            </a:r>
            <a:r>
              <a:rPr lang="en-US" sz="1000" i="1" dirty="0">
                <a:solidFill>
                  <a:srgbClr val="1A202C"/>
                </a:solidFill>
                <a:latin typeface="Calibri" pitchFamily="34" charset="0"/>
                <a:ea typeface="Calibri" pitchFamily="34" charset="-122"/>
                <a:cs typeface="Calibri" pitchFamily="34" charset="-120"/>
              </a:rPr>
              <a:t>blocking for defense</a:t>
            </a:r>
            <a:r>
              <a:rPr lang="en-US" sz="1000" dirty="0">
                <a:solidFill>
                  <a:srgbClr val="1A202C"/>
                </a:solidFill>
                <a:latin typeface="Calibri" pitchFamily="34" charset="0"/>
                <a:ea typeface="Calibri" pitchFamily="34" charset="-122"/>
                <a:cs typeface="Calibri" pitchFamily="34" charset="-120"/>
              </a:rPr>
              <a:t>
</a:t>
            </a:r>
            <a:r>
              <a:rPr lang="en-US" sz="1000" b="1" dirty="0">
                <a:solidFill>
                  <a:srgbClr val="1A202C"/>
                </a:solidFill>
                <a:latin typeface="Calibri" pitchFamily="34" charset="0"/>
                <a:ea typeface="Calibri" pitchFamily="34" charset="-122"/>
                <a:cs typeface="Calibri" pitchFamily="34" charset="-120"/>
              </a:rPr>
              <a:t>2.  Few-shot robustness</a:t>
            </a:r>
            <a:r>
              <a:rPr lang="en-US" sz="1000" dirty="0">
                <a:solidFill>
                  <a:srgbClr val="1A202C"/>
                </a:solidFill>
                <a:latin typeface="Calibri" pitchFamily="34" charset="0"/>
                <a:ea typeface="Calibri" pitchFamily="34" charset="-122"/>
                <a:cs typeface="Calibri" pitchFamily="34" charset="-120"/>
              </a:rPr>
              <a:t> — 9 labeled examples in prompt; compare ρ against zero-shot baseline (target ρ &gt; 0.85)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2C5282"/>
          </a:solidFill>
          <a:ln w="12700">
            <a:solidFill>
              <a:srgbClr val="2C5282"/>
            </a:solidFill>
            <a:prstDash val="solid"/>
          </a:ln>
        </p:spPr>
        <p:txBody>
          <a:bodyPr/>
          <a:lstStyle/>
          <a:p>
            <a:endParaRPr lang="en-US"/>
          </a:p>
        </p:txBody>
      </p:sp>
      <p:sp>
        <p:nvSpPr>
          <p:cNvPr id="3" name="Text 1"/>
          <p:cNvSpPr/>
          <p:nvPr/>
        </p:nvSpPr>
        <p:spPr>
          <a:xfrm>
            <a:off x="274320" y="0"/>
            <a:ext cx="868680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Local Projections — Specification</a:t>
            </a:r>
            <a:endParaRPr lang="en-US" sz="1600" dirty="0"/>
          </a:p>
        </p:txBody>
      </p:sp>
      <p:sp>
        <p:nvSpPr>
          <p:cNvPr id="4" name="Text 2"/>
          <p:cNvSpPr/>
          <p:nvPr/>
        </p:nvSpPr>
        <p:spPr>
          <a:xfrm>
            <a:off x="274320" y="4901184"/>
            <a:ext cx="6858000" cy="182880"/>
          </a:xfrm>
          <a:prstGeom prst="rect">
            <a:avLst/>
          </a:prstGeom>
          <a:noFill/>
          <a:ln/>
        </p:spPr>
        <p:txBody>
          <a:bodyPr wrap="square" rtlCol="0" anchor="ctr"/>
          <a:lstStyle/>
          <a:p>
            <a:pPr marL="0" indent="0">
              <a:buNone/>
            </a:pPr>
            <a:r>
              <a:rPr lang="en-US" sz="750" dirty="0">
                <a:solidFill>
                  <a:srgbClr val="718096"/>
                </a:solidFill>
                <a:latin typeface="Calibri" pitchFamily="34" charset="0"/>
                <a:ea typeface="Calibri" pitchFamily="34" charset="-122"/>
                <a:cs typeface="Calibri" pitchFamily="34" charset="-120"/>
              </a:rPr>
              <a:t>Kazi, Eviston, Rubiano  ·  BSE Masters 2026</a:t>
            </a:r>
            <a:endParaRPr lang="en-US" sz="750" dirty="0"/>
          </a:p>
        </p:txBody>
      </p:sp>
      <p:sp>
        <p:nvSpPr>
          <p:cNvPr id="5" name="Text 3"/>
          <p:cNvSpPr/>
          <p:nvPr/>
        </p:nvSpPr>
        <p:spPr>
          <a:xfrm>
            <a:off x="8046720" y="4901184"/>
            <a:ext cx="914400" cy="182880"/>
          </a:xfrm>
          <a:prstGeom prst="rect">
            <a:avLst/>
          </a:prstGeom>
          <a:noFill/>
          <a:ln/>
        </p:spPr>
        <p:txBody>
          <a:bodyPr wrap="square" rtlCol="0" anchor="ctr"/>
          <a:lstStyle/>
          <a:p>
            <a:pPr marL="0" indent="0" algn="r">
              <a:buNone/>
            </a:pPr>
            <a:r>
              <a:rPr lang="en-US" sz="750" dirty="0">
                <a:solidFill>
                  <a:srgbClr val="718096"/>
                </a:solidFill>
                <a:latin typeface="Calibri" pitchFamily="34" charset="0"/>
                <a:ea typeface="Calibri" pitchFamily="34" charset="-122"/>
                <a:cs typeface="Calibri" pitchFamily="34" charset="-120"/>
              </a:rPr>
              <a:t>7 / 12</a:t>
            </a:r>
            <a:endParaRPr lang="en-US" sz="750" dirty="0"/>
          </a:p>
        </p:txBody>
      </p:sp>
      <p:sp>
        <p:nvSpPr>
          <p:cNvPr id="6" name="Text 4"/>
          <p:cNvSpPr/>
          <p:nvPr/>
        </p:nvSpPr>
        <p:spPr>
          <a:xfrm>
            <a:off x="274320" y="576072"/>
            <a:ext cx="502920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Jordà (2005) local projections</a:t>
            </a:r>
            <a:endParaRPr lang="en-US" sz="1100" dirty="0"/>
          </a:p>
        </p:txBody>
      </p:sp>
      <p:sp>
        <p:nvSpPr>
          <p:cNvPr id="7" name="Shape 5"/>
          <p:cNvSpPr/>
          <p:nvPr/>
        </p:nvSpPr>
        <p:spPr>
          <a:xfrm>
            <a:off x="274320" y="850392"/>
            <a:ext cx="4474143" cy="658368"/>
          </a:xfrm>
          <a:prstGeom prst="rect">
            <a:avLst/>
          </a:prstGeom>
          <a:solidFill>
            <a:srgbClr val="F7FAFC"/>
          </a:solidFill>
          <a:ln w="12700">
            <a:solidFill>
              <a:srgbClr val="CCCCCC"/>
            </a:solidFill>
            <a:prstDash val="solid"/>
          </a:ln>
        </p:spPr>
        <p:txBody>
          <a:bodyPr/>
          <a:lstStyle/>
          <a:p>
            <a:endParaRPr lang="en-US"/>
          </a:p>
        </p:txBody>
      </p:sp>
      <p:sp>
        <p:nvSpPr>
          <p:cNvPr id="8" name="Text 6"/>
          <p:cNvSpPr/>
          <p:nvPr/>
        </p:nvSpPr>
        <p:spPr>
          <a:xfrm>
            <a:off x="365760" y="868680"/>
            <a:ext cx="4846320" cy="621792"/>
          </a:xfrm>
          <a:prstGeom prst="rect">
            <a:avLst/>
          </a:prstGeom>
          <a:noFill/>
          <a:ln/>
        </p:spPr>
        <p:txBody>
          <a:bodyPr wrap="square" rtlCol="0" anchor="ctr"/>
          <a:lstStyle/>
          <a:p>
            <a:pPr marL="0" indent="0" algn="ctr">
              <a:buNone/>
            </a:pPr>
            <a:r>
              <a:rPr lang="en-US" sz="1300" b="1" dirty="0">
                <a:solidFill>
                  <a:srgbClr val="1A202C"/>
                </a:solidFill>
                <a:latin typeface="Calibri" pitchFamily="34" charset="0"/>
                <a:ea typeface="Calibri" pitchFamily="34" charset="-122"/>
                <a:cs typeface="Calibri" pitchFamily="34" charset="-120"/>
              </a:rPr>
              <a:t>yₜ₊ₕ − yₜ₋₁  =  αₕ  +  βₕ · sₜ  +  δₕ · (sₜ × 1ₘᴵᴸᵇᴵ)  +  γₕᵀ xₜ  +  εₜ₊ₕ</a:t>
            </a:r>
            <a:endParaRPr lang="en-US" sz="1300" dirty="0"/>
          </a:p>
        </p:txBody>
      </p:sp>
      <p:sp>
        <p:nvSpPr>
          <p:cNvPr id="9" name="Text 7"/>
          <p:cNvSpPr/>
          <p:nvPr/>
        </p:nvSpPr>
        <p:spPr>
          <a:xfrm>
            <a:off x="274320" y="1572768"/>
            <a:ext cx="5029200" cy="1417320"/>
          </a:xfrm>
          <a:prstGeom prst="rect">
            <a:avLst/>
          </a:prstGeom>
          <a:noFill/>
          <a:ln/>
        </p:spPr>
        <p:txBody>
          <a:bodyPr wrap="square" rtlCol="0" anchor="t"/>
          <a:lstStyle/>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sₜ = net_hawkish_llm_z (our NLP signal)</a:t>
            </a:r>
            <a:endParaRPr lang="en-US" sz="1000" dirty="0"/>
          </a:p>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βₕ traces the baseline IRF at each horizon h</a:t>
            </a:r>
            <a:endParaRPr lang="en-US" sz="1000" dirty="0"/>
          </a:p>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δₕ directly estimates the Milei-regime difference in the IRF — clean and interpretable</a:t>
            </a:r>
            <a:endParaRPr lang="en-US" sz="1000" dirty="0"/>
          </a:p>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Newey–West SEs for serial correlation from overlapping horizons</a:t>
            </a:r>
            <a:endParaRPr lang="en-US" sz="1000" dirty="0"/>
          </a:p>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Controls xₜ: lagged y, monetary policy rate, ARS/USD, EMBI+</a:t>
            </a:r>
            <a:endParaRPr lang="en-US" sz="1000" dirty="0"/>
          </a:p>
        </p:txBody>
      </p:sp>
      <p:sp>
        <p:nvSpPr>
          <p:cNvPr id="10" name="Text 8"/>
          <p:cNvSpPr/>
          <p:nvPr/>
        </p:nvSpPr>
        <p:spPr>
          <a:xfrm>
            <a:off x="4663440" y="576072"/>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Why LP over BVAR dummy?</a:t>
            </a:r>
            <a:endParaRPr lang="en-US" sz="1100" dirty="0"/>
          </a:p>
        </p:txBody>
      </p:sp>
      <p:sp>
        <p:nvSpPr>
          <p:cNvPr id="11" name="Text 9"/>
          <p:cNvSpPr/>
          <p:nvPr/>
        </p:nvSpPr>
        <p:spPr>
          <a:xfrm>
            <a:off x="4663440" y="850392"/>
            <a:ext cx="4206240" cy="1051560"/>
          </a:xfrm>
          <a:prstGeom prst="rect">
            <a:avLst/>
          </a:prstGeom>
          <a:noFill/>
          <a:ln/>
        </p:spPr>
        <p:txBody>
          <a:bodyPr wrap="square" rtlCol="0" anchor="t"/>
          <a:lstStyle/>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BVAR Milei dummy absorbs all Milei-era macro differences, not just communication effects</a:t>
            </a:r>
            <a:endParaRPr lang="en-US" sz="1000" dirty="0"/>
          </a:p>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LP interaction term δₕ isolates the regime difference in response to the same signal shock</a:t>
            </a:r>
            <a:endParaRPr lang="en-US" sz="1000" dirty="0"/>
          </a:p>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Supervisor-recommended identification strategy</a:t>
            </a:r>
            <a:endParaRPr lang="en-US" sz="1000" dirty="0"/>
          </a:p>
        </p:txBody>
      </p:sp>
      <p:sp>
        <p:nvSpPr>
          <p:cNvPr id="12" name="Text 10"/>
          <p:cNvSpPr/>
          <p:nvPr/>
        </p:nvSpPr>
        <p:spPr>
          <a:xfrm>
            <a:off x="4663440" y="1965960"/>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Outcome variables</a:t>
            </a:r>
            <a:endParaRPr lang="en-US" sz="1100" dirty="0"/>
          </a:p>
        </p:txBody>
      </p:sp>
      <p:sp>
        <p:nvSpPr>
          <p:cNvPr id="13" name="Text 11"/>
          <p:cNvSpPr/>
          <p:nvPr/>
        </p:nvSpPr>
        <p:spPr>
          <a:xfrm>
            <a:off x="4663440" y="2240280"/>
            <a:ext cx="4206240" cy="1051560"/>
          </a:xfrm>
          <a:prstGeom prst="rect">
            <a:avLst/>
          </a:prstGeom>
          <a:noFill/>
          <a:ln/>
        </p:spPr>
        <p:txBody>
          <a:bodyPr wrap="square" rtlCol="0" anchor="t"/>
          <a:lstStyle/>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REM 12m inflation expectations</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REM 24m inflation expectations</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Cross-sectional expectation dispersion</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EMBI+ Argentina spread</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ARS CCL rate</a:t>
            </a:r>
            <a:endParaRPr lang="en-US" sz="1000" dirty="0"/>
          </a:p>
        </p:txBody>
      </p:sp>
      <p:sp>
        <p:nvSpPr>
          <p:cNvPr id="14" name="Text 12"/>
          <p:cNvSpPr/>
          <p:nvPr/>
        </p:nvSpPr>
        <p:spPr>
          <a:xfrm>
            <a:off x="4663440" y="3355848"/>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Robustness</a:t>
            </a:r>
            <a:endParaRPr lang="en-US" sz="1100" dirty="0"/>
          </a:p>
        </p:txBody>
      </p:sp>
      <p:sp>
        <p:nvSpPr>
          <p:cNvPr id="15" name="Text 13"/>
          <p:cNvSpPr/>
          <p:nvPr/>
        </p:nvSpPr>
        <p:spPr>
          <a:xfrm>
            <a:off x="4663440" y="3630168"/>
            <a:ext cx="4206240" cy="822960"/>
          </a:xfrm>
          <a:prstGeom prst="rect">
            <a:avLst/>
          </a:prstGeom>
          <a:noFill/>
          <a:ln/>
        </p:spPr>
        <p:txBody>
          <a:bodyPr wrap="square" rtlCol="0" anchor="t"/>
          <a:lstStyle/>
          <a:p>
            <a:pPr marL="0" indent="0">
              <a:buNone/>
            </a:pPr>
            <a:r>
              <a:rPr lang="en-US" sz="1000" dirty="0">
                <a:solidFill>
                  <a:srgbClr val="1A202C"/>
                </a:solidFill>
                <a:latin typeface="Calibri" pitchFamily="34" charset="0"/>
                <a:ea typeface="Calibri" pitchFamily="34" charset="-122"/>
                <a:cs typeface="Calibri" pitchFamily="34" charset="-120"/>
              </a:rPr>
              <a:t>LP-IV with narrative instrument (Montiel Olea &amp; Plagborg-Møller 2021); narrative events: DNU 70/2023, Dec 2023 devaluation, Ley Bases votes, Davos/CPAC appearances. Olea–Pflueger weak-IV tests reported.</a:t>
            </a:r>
            <a:endParaRPr lang="en-US" sz="1000" dirty="0"/>
          </a:p>
        </p:txBody>
      </p:sp>
      <p:sp>
        <p:nvSpPr>
          <p:cNvPr id="16" name="Text 14"/>
          <p:cNvSpPr/>
          <p:nvPr/>
        </p:nvSpPr>
        <p:spPr>
          <a:xfrm>
            <a:off x="274320" y="3017520"/>
            <a:ext cx="502920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Estimation: R lpirfs package</a:t>
            </a:r>
            <a:endParaRPr lang="en-US" sz="1100" dirty="0"/>
          </a:p>
        </p:txBody>
      </p:sp>
      <p:sp>
        <p:nvSpPr>
          <p:cNvPr id="17" name="Text 15"/>
          <p:cNvSpPr/>
          <p:nvPr/>
        </p:nvSpPr>
        <p:spPr>
          <a:xfrm>
            <a:off x="274320" y="3291840"/>
            <a:ext cx="5029200" cy="685800"/>
          </a:xfrm>
          <a:prstGeom prst="rect">
            <a:avLst/>
          </a:prstGeom>
          <a:noFill/>
          <a:ln/>
        </p:spPr>
        <p:txBody>
          <a:bodyPr wrap="square" rtlCol="0" anchor="t"/>
          <a:lstStyle/>
          <a:p>
            <a:pPr marL="0" indent="0">
              <a:buNone/>
            </a:pPr>
            <a:r>
              <a:rPr lang="en-US" sz="1000" dirty="0">
                <a:solidFill>
                  <a:srgbClr val="1A202C"/>
                </a:solidFill>
                <a:latin typeface="Calibri" pitchFamily="34" charset="0"/>
                <a:ea typeface="Calibri" pitchFamily="34" charset="-122"/>
                <a:cs typeface="Calibri" pitchFamily="34" charset="-120"/>
              </a:rPr>
              <a:t>For each outcome y and horizon h = 0,1,...,H: βₕ traces the baseline IRF; βₕ + δₕ gives the Milei-regime IRF. Standard errors are Newey–West with bandwidth floor = h+1.</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2C5282"/>
          </a:solidFill>
          <a:ln w="12700">
            <a:solidFill>
              <a:srgbClr val="2C5282"/>
            </a:solidFill>
            <a:prstDash val="solid"/>
          </a:ln>
        </p:spPr>
        <p:txBody>
          <a:bodyPr/>
          <a:lstStyle/>
          <a:p>
            <a:endParaRPr lang="en-US"/>
          </a:p>
        </p:txBody>
      </p:sp>
      <p:sp>
        <p:nvSpPr>
          <p:cNvPr id="3" name="Text 1"/>
          <p:cNvSpPr/>
          <p:nvPr/>
        </p:nvSpPr>
        <p:spPr>
          <a:xfrm>
            <a:off x="274320" y="0"/>
            <a:ext cx="868680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Local Projections — Results</a:t>
            </a:r>
            <a:endParaRPr lang="en-US" sz="1600" dirty="0"/>
          </a:p>
        </p:txBody>
      </p:sp>
      <p:sp>
        <p:nvSpPr>
          <p:cNvPr id="4" name="Text 2"/>
          <p:cNvSpPr/>
          <p:nvPr/>
        </p:nvSpPr>
        <p:spPr>
          <a:xfrm>
            <a:off x="274320" y="4901184"/>
            <a:ext cx="6858000" cy="182880"/>
          </a:xfrm>
          <a:prstGeom prst="rect">
            <a:avLst/>
          </a:prstGeom>
          <a:noFill/>
          <a:ln/>
        </p:spPr>
        <p:txBody>
          <a:bodyPr wrap="square" rtlCol="0" anchor="ctr"/>
          <a:lstStyle/>
          <a:p>
            <a:pPr marL="0" indent="0">
              <a:buNone/>
            </a:pPr>
            <a:r>
              <a:rPr lang="en-US" sz="750" dirty="0">
                <a:solidFill>
                  <a:srgbClr val="718096"/>
                </a:solidFill>
                <a:latin typeface="Calibri" pitchFamily="34" charset="0"/>
                <a:ea typeface="Calibri" pitchFamily="34" charset="-122"/>
                <a:cs typeface="Calibri" pitchFamily="34" charset="-120"/>
              </a:rPr>
              <a:t>Kazi, Eviston, Rubiano  ·  BSE Masters 2026</a:t>
            </a:r>
            <a:endParaRPr lang="en-US" sz="750" dirty="0"/>
          </a:p>
        </p:txBody>
      </p:sp>
      <p:sp>
        <p:nvSpPr>
          <p:cNvPr id="5" name="Text 3"/>
          <p:cNvSpPr/>
          <p:nvPr/>
        </p:nvSpPr>
        <p:spPr>
          <a:xfrm>
            <a:off x="8046720" y="4901184"/>
            <a:ext cx="914400" cy="182880"/>
          </a:xfrm>
          <a:prstGeom prst="rect">
            <a:avLst/>
          </a:prstGeom>
          <a:noFill/>
          <a:ln/>
        </p:spPr>
        <p:txBody>
          <a:bodyPr wrap="square" rtlCol="0" anchor="ctr"/>
          <a:lstStyle/>
          <a:p>
            <a:pPr marL="0" indent="0" algn="r">
              <a:buNone/>
            </a:pPr>
            <a:r>
              <a:rPr lang="en-US" sz="750" dirty="0">
                <a:solidFill>
                  <a:srgbClr val="718096"/>
                </a:solidFill>
                <a:latin typeface="Calibri" pitchFamily="34" charset="0"/>
                <a:ea typeface="Calibri" pitchFamily="34" charset="-122"/>
                <a:cs typeface="Calibri" pitchFamily="34" charset="-120"/>
              </a:rPr>
              <a:t>8 / 12</a:t>
            </a:r>
            <a:endParaRPr lang="en-US" sz="750" dirty="0"/>
          </a:p>
        </p:txBody>
      </p:sp>
      <p:sp>
        <p:nvSpPr>
          <p:cNvPr id="6" name="Shape 4"/>
          <p:cNvSpPr/>
          <p:nvPr/>
        </p:nvSpPr>
        <p:spPr>
          <a:xfrm>
            <a:off x="274320" y="576072"/>
            <a:ext cx="4206240" cy="3749040"/>
          </a:xfrm>
          <a:prstGeom prst="rect">
            <a:avLst/>
          </a:prstGeom>
          <a:solidFill>
            <a:srgbClr val="EBF4FF"/>
          </a:solidFill>
          <a:ln w="12700">
            <a:solidFill>
              <a:srgbClr val="2C5282"/>
            </a:solidFill>
            <a:prstDash val="solid"/>
          </a:ln>
        </p:spPr>
        <p:txBody>
          <a:bodyPr/>
          <a:lstStyle/>
          <a:p>
            <a:endParaRPr lang="en-US"/>
          </a:p>
        </p:txBody>
      </p:sp>
      <p:sp>
        <p:nvSpPr>
          <p:cNvPr id="7" name="Shape 5"/>
          <p:cNvSpPr/>
          <p:nvPr/>
        </p:nvSpPr>
        <p:spPr>
          <a:xfrm>
            <a:off x="274320" y="576072"/>
            <a:ext cx="4206240" cy="246888"/>
          </a:xfrm>
          <a:prstGeom prst="rect">
            <a:avLst/>
          </a:prstGeom>
          <a:solidFill>
            <a:srgbClr val="2C5282"/>
          </a:solidFill>
          <a:ln w="12700">
            <a:solidFill>
              <a:srgbClr val="2C5282"/>
            </a:solidFill>
            <a:prstDash val="solid"/>
          </a:ln>
        </p:spPr>
        <p:txBody>
          <a:bodyPr/>
          <a:lstStyle/>
          <a:p>
            <a:endParaRPr lang="en-US"/>
          </a:p>
        </p:txBody>
      </p:sp>
      <p:sp>
        <p:nvSpPr>
          <p:cNvPr id="8" name="Text 6"/>
          <p:cNvSpPr/>
          <p:nvPr/>
        </p:nvSpPr>
        <p:spPr>
          <a:xfrm>
            <a:off x="365760" y="576072"/>
            <a:ext cx="4023360" cy="24688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Baseline IRF: β̂ₕ</a:t>
            </a:r>
            <a:endParaRPr lang="en-US" sz="900" dirty="0"/>
          </a:p>
        </p:txBody>
      </p:sp>
      <p:sp>
        <p:nvSpPr>
          <p:cNvPr id="9" name="Text 7"/>
          <p:cNvSpPr/>
          <p:nvPr/>
        </p:nvSpPr>
        <p:spPr>
          <a:xfrm>
            <a:off x="365760" y="841248"/>
            <a:ext cx="4023360" cy="3447288"/>
          </a:xfrm>
          <a:prstGeom prst="rect">
            <a:avLst/>
          </a:prstGeom>
          <a:noFill/>
          <a:ln/>
        </p:spPr>
        <p:txBody>
          <a:bodyPr wrap="square" rtlCol="0" anchor="t"/>
          <a:lstStyle/>
          <a:p>
            <a:pPr marL="0" indent="0">
              <a:buNone/>
            </a:pPr>
            <a:endParaRPr lang="en-US" sz="900" dirty="0"/>
          </a:p>
        </p:txBody>
      </p:sp>
      <p:sp>
        <p:nvSpPr>
          <p:cNvPr id="10" name="Shape 8"/>
          <p:cNvSpPr/>
          <p:nvPr/>
        </p:nvSpPr>
        <p:spPr>
          <a:xfrm>
            <a:off x="274320" y="914400"/>
            <a:ext cx="4206240" cy="3337560"/>
          </a:xfrm>
          <a:prstGeom prst="rect">
            <a:avLst/>
          </a:prstGeom>
          <a:solidFill>
            <a:srgbClr val="EBF4FF"/>
          </a:solidFill>
          <a:ln w="12700">
            <a:solidFill>
              <a:srgbClr val="2C5282"/>
            </a:solidFill>
            <a:prstDash val="dash"/>
          </a:ln>
        </p:spPr>
        <p:txBody>
          <a:bodyPr/>
          <a:lstStyle/>
          <a:p>
            <a:endParaRPr lang="en-US"/>
          </a:p>
        </p:txBody>
      </p:sp>
      <p:sp>
        <p:nvSpPr>
          <p:cNvPr id="11" name="Text 9"/>
          <p:cNvSpPr/>
          <p:nvPr/>
        </p:nvSpPr>
        <p:spPr>
          <a:xfrm>
            <a:off x="274320" y="914400"/>
            <a:ext cx="4206240" cy="3337560"/>
          </a:xfrm>
          <a:prstGeom prst="rect">
            <a:avLst/>
          </a:prstGeom>
          <a:noFill/>
          <a:ln/>
        </p:spPr>
        <p:txBody>
          <a:bodyPr wrap="square" rtlCol="0" anchor="ctr"/>
          <a:lstStyle/>
          <a:p>
            <a:pPr marL="0" indent="0" algn="ctr">
              <a:buNone/>
            </a:pPr>
            <a:r>
              <a:rPr lang="en-US" sz="900" i="1" dirty="0">
                <a:solidFill>
                  <a:srgbClr val="4A5568"/>
                </a:solidFill>
                <a:latin typeface="Calibri" pitchFamily="34" charset="0"/>
                <a:ea typeface="Calibri" pitchFamily="34" charset="-122"/>
                <a:cs typeface="Calibri" pitchFamily="34" charset="-120"/>
              </a:rPr>
              <a:t>[Insert LP-IRF for REM 12m</a:t>
            </a:r>
            <a:endParaRPr lang="en-US" sz="900" dirty="0"/>
          </a:p>
          <a:p>
            <a:pPr marL="0" indent="0" algn="ctr">
              <a:buNone/>
            </a:pPr>
            <a:r>
              <a:rPr lang="en-US" sz="900" i="1" dirty="0">
                <a:solidFill>
                  <a:srgbClr val="4A5568"/>
                </a:solidFill>
                <a:latin typeface="Calibri" pitchFamily="34" charset="0"/>
                <a:ea typeface="Calibri" pitchFamily="34" charset="-122"/>
                <a:cs typeface="Calibri" pitchFamily="34" charset="-120"/>
              </a:rPr>
              <a:t>with 90% Newey–West CI bands]</a:t>
            </a:r>
            <a:endParaRPr lang="en-US" sz="900" dirty="0"/>
          </a:p>
        </p:txBody>
      </p:sp>
      <p:sp>
        <p:nvSpPr>
          <p:cNvPr id="12" name="Shape 10"/>
          <p:cNvSpPr/>
          <p:nvPr/>
        </p:nvSpPr>
        <p:spPr>
          <a:xfrm>
            <a:off x="4572000" y="576072"/>
            <a:ext cx="4297680" cy="3749040"/>
          </a:xfrm>
          <a:prstGeom prst="rect">
            <a:avLst/>
          </a:prstGeom>
          <a:solidFill>
            <a:srgbClr val="EBF4FF"/>
          </a:solidFill>
          <a:ln w="12700">
            <a:solidFill>
              <a:srgbClr val="2C5282"/>
            </a:solidFill>
            <a:prstDash val="solid"/>
          </a:ln>
        </p:spPr>
        <p:txBody>
          <a:bodyPr/>
          <a:lstStyle/>
          <a:p>
            <a:endParaRPr lang="en-US"/>
          </a:p>
        </p:txBody>
      </p:sp>
      <p:sp>
        <p:nvSpPr>
          <p:cNvPr id="13" name="Shape 11"/>
          <p:cNvSpPr/>
          <p:nvPr/>
        </p:nvSpPr>
        <p:spPr>
          <a:xfrm>
            <a:off x="4572000" y="576072"/>
            <a:ext cx="4297680" cy="246888"/>
          </a:xfrm>
          <a:prstGeom prst="rect">
            <a:avLst/>
          </a:prstGeom>
          <a:solidFill>
            <a:srgbClr val="2C5282"/>
          </a:solidFill>
          <a:ln w="12700">
            <a:solidFill>
              <a:srgbClr val="2C5282"/>
            </a:solidFill>
            <a:prstDash val="solid"/>
          </a:ln>
        </p:spPr>
        <p:txBody>
          <a:bodyPr/>
          <a:lstStyle/>
          <a:p>
            <a:endParaRPr lang="en-US"/>
          </a:p>
        </p:txBody>
      </p:sp>
      <p:sp>
        <p:nvSpPr>
          <p:cNvPr id="14" name="Text 12"/>
          <p:cNvSpPr/>
          <p:nvPr/>
        </p:nvSpPr>
        <p:spPr>
          <a:xfrm>
            <a:off x="4663440" y="576072"/>
            <a:ext cx="4114800" cy="24688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Regime diff. IRF: β̂ₕ + δ̂ₕ  vs  β̂ₕ</a:t>
            </a:r>
            <a:endParaRPr lang="en-US" sz="900" dirty="0"/>
          </a:p>
        </p:txBody>
      </p:sp>
      <p:sp>
        <p:nvSpPr>
          <p:cNvPr id="15" name="Text 13"/>
          <p:cNvSpPr/>
          <p:nvPr/>
        </p:nvSpPr>
        <p:spPr>
          <a:xfrm>
            <a:off x="4663440" y="841248"/>
            <a:ext cx="4114800" cy="3447288"/>
          </a:xfrm>
          <a:prstGeom prst="rect">
            <a:avLst/>
          </a:prstGeom>
          <a:noFill/>
          <a:ln/>
        </p:spPr>
        <p:txBody>
          <a:bodyPr wrap="square" rtlCol="0" anchor="t"/>
          <a:lstStyle/>
          <a:p>
            <a:pPr marL="0" indent="0">
              <a:buNone/>
            </a:pPr>
            <a:endParaRPr lang="en-US" sz="900" dirty="0"/>
          </a:p>
        </p:txBody>
      </p:sp>
      <p:sp>
        <p:nvSpPr>
          <p:cNvPr id="16" name="Shape 14"/>
          <p:cNvSpPr/>
          <p:nvPr/>
        </p:nvSpPr>
        <p:spPr>
          <a:xfrm>
            <a:off x="4572000" y="914400"/>
            <a:ext cx="4297680" cy="3337560"/>
          </a:xfrm>
          <a:prstGeom prst="rect">
            <a:avLst/>
          </a:prstGeom>
          <a:solidFill>
            <a:srgbClr val="EBF4FF"/>
          </a:solidFill>
          <a:ln w="12700">
            <a:solidFill>
              <a:srgbClr val="2C5282"/>
            </a:solidFill>
            <a:prstDash val="dash"/>
          </a:ln>
        </p:spPr>
        <p:txBody>
          <a:bodyPr/>
          <a:lstStyle/>
          <a:p>
            <a:endParaRPr lang="en-US"/>
          </a:p>
        </p:txBody>
      </p:sp>
      <p:sp>
        <p:nvSpPr>
          <p:cNvPr id="17" name="Text 15"/>
          <p:cNvSpPr/>
          <p:nvPr/>
        </p:nvSpPr>
        <p:spPr>
          <a:xfrm>
            <a:off x="4572000" y="914400"/>
            <a:ext cx="4297680" cy="3337560"/>
          </a:xfrm>
          <a:prstGeom prst="rect">
            <a:avLst/>
          </a:prstGeom>
          <a:noFill/>
          <a:ln/>
        </p:spPr>
        <p:txBody>
          <a:bodyPr wrap="square" rtlCol="0" anchor="ctr"/>
          <a:lstStyle/>
          <a:p>
            <a:pPr marL="0" indent="0" algn="ctr">
              <a:buNone/>
            </a:pPr>
            <a:r>
              <a:rPr lang="en-US" sz="900" i="1" dirty="0">
                <a:solidFill>
                  <a:srgbClr val="4A5568"/>
                </a:solidFill>
                <a:latin typeface="Calibri" pitchFamily="34" charset="0"/>
                <a:ea typeface="Calibri" pitchFamily="34" charset="-122"/>
                <a:cs typeface="Calibri" pitchFamily="34" charset="-120"/>
              </a:rPr>
              <a:t>[Insert: pre-Milei vs post-Milei IRF</a:t>
            </a:r>
            <a:endParaRPr lang="en-US" sz="900" dirty="0"/>
          </a:p>
          <a:p>
            <a:pPr marL="0" indent="0" algn="ctr">
              <a:buNone/>
            </a:pPr>
            <a:r>
              <a:rPr lang="en-US" sz="900" i="1" dirty="0">
                <a:solidFill>
                  <a:srgbClr val="4A5568"/>
                </a:solidFill>
                <a:latin typeface="Calibri" pitchFamily="34" charset="0"/>
                <a:ea typeface="Calibri" pitchFamily="34" charset="-122"/>
                <a:cs typeface="Calibri" pitchFamily="34" charset="-120"/>
              </a:rPr>
              <a:t>comparison with CI bands]</a:t>
            </a:r>
            <a:endParaRPr lang="en-US" sz="900" dirty="0"/>
          </a:p>
        </p:txBody>
      </p:sp>
      <p:sp>
        <p:nvSpPr>
          <p:cNvPr id="18" name="Text 16"/>
          <p:cNvSpPr/>
          <p:nvPr/>
        </p:nvSpPr>
        <p:spPr>
          <a:xfrm>
            <a:off x="274320" y="4407408"/>
            <a:ext cx="8595360" cy="320040"/>
          </a:xfrm>
          <a:prstGeom prst="rect">
            <a:avLst/>
          </a:prstGeom>
          <a:noFill/>
          <a:ln/>
        </p:spPr>
        <p:txBody>
          <a:bodyPr wrap="square"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Headline test:</a:t>
            </a:r>
            <a:r>
              <a:rPr lang="en-US" sz="1000" dirty="0">
                <a:solidFill>
                  <a:srgbClr val="1A202C"/>
                </a:solidFill>
                <a:latin typeface="Calibri" pitchFamily="34" charset="0"/>
                <a:ea typeface="Calibri" pitchFamily="34" charset="-122"/>
                <a:cs typeface="Calibri" pitchFamily="34" charset="-120"/>
              </a:rPr>
              <a:t> Is δ̂ₕ statistically ≠ 0 for REM expectations, and does the sign make economic sense (hawkish communication → lower expectations under Milei)?</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2C5282"/>
          </a:solidFill>
          <a:ln w="12700">
            <a:solidFill>
              <a:srgbClr val="2C5282"/>
            </a:solidFill>
            <a:prstDash val="solid"/>
          </a:ln>
        </p:spPr>
        <p:txBody>
          <a:bodyPr/>
          <a:lstStyle/>
          <a:p>
            <a:endParaRPr lang="en-US"/>
          </a:p>
        </p:txBody>
      </p:sp>
      <p:sp>
        <p:nvSpPr>
          <p:cNvPr id="3" name="Text 1"/>
          <p:cNvSpPr/>
          <p:nvPr/>
        </p:nvSpPr>
        <p:spPr>
          <a:xfrm>
            <a:off x="274320" y="0"/>
            <a:ext cx="868680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BVAR — Specification</a:t>
            </a:r>
            <a:endParaRPr lang="en-US" sz="1600" dirty="0"/>
          </a:p>
        </p:txBody>
      </p:sp>
      <p:sp>
        <p:nvSpPr>
          <p:cNvPr id="4" name="Text 2"/>
          <p:cNvSpPr/>
          <p:nvPr/>
        </p:nvSpPr>
        <p:spPr>
          <a:xfrm>
            <a:off x="274320" y="4901184"/>
            <a:ext cx="6858000" cy="182880"/>
          </a:xfrm>
          <a:prstGeom prst="rect">
            <a:avLst/>
          </a:prstGeom>
          <a:noFill/>
          <a:ln/>
        </p:spPr>
        <p:txBody>
          <a:bodyPr wrap="square" rtlCol="0" anchor="ctr"/>
          <a:lstStyle/>
          <a:p>
            <a:pPr marL="0" indent="0">
              <a:buNone/>
            </a:pPr>
            <a:r>
              <a:rPr lang="en-US" sz="750" dirty="0">
                <a:solidFill>
                  <a:srgbClr val="718096"/>
                </a:solidFill>
                <a:latin typeface="Calibri" pitchFamily="34" charset="0"/>
                <a:ea typeface="Calibri" pitchFamily="34" charset="-122"/>
                <a:cs typeface="Calibri" pitchFamily="34" charset="-120"/>
              </a:rPr>
              <a:t>Kazi, Eviston, Rubiano  ·  BSE Masters 2026</a:t>
            </a:r>
            <a:endParaRPr lang="en-US" sz="750" dirty="0"/>
          </a:p>
        </p:txBody>
      </p:sp>
      <p:sp>
        <p:nvSpPr>
          <p:cNvPr id="5" name="Text 3"/>
          <p:cNvSpPr/>
          <p:nvPr/>
        </p:nvSpPr>
        <p:spPr>
          <a:xfrm>
            <a:off x="8046720" y="4901184"/>
            <a:ext cx="914400" cy="182880"/>
          </a:xfrm>
          <a:prstGeom prst="rect">
            <a:avLst/>
          </a:prstGeom>
          <a:noFill/>
          <a:ln/>
        </p:spPr>
        <p:txBody>
          <a:bodyPr wrap="square" rtlCol="0" anchor="ctr"/>
          <a:lstStyle/>
          <a:p>
            <a:pPr marL="0" indent="0" algn="r">
              <a:buNone/>
            </a:pPr>
            <a:r>
              <a:rPr lang="en-US" sz="750" dirty="0">
                <a:solidFill>
                  <a:srgbClr val="718096"/>
                </a:solidFill>
                <a:latin typeface="Calibri" pitchFamily="34" charset="0"/>
                <a:ea typeface="Calibri" pitchFamily="34" charset="-122"/>
                <a:cs typeface="Calibri" pitchFamily="34" charset="-120"/>
              </a:rPr>
              <a:t>9 / 12</a:t>
            </a:r>
            <a:endParaRPr lang="en-US" sz="750" dirty="0"/>
          </a:p>
        </p:txBody>
      </p:sp>
      <p:sp>
        <p:nvSpPr>
          <p:cNvPr id="6" name="Text 4"/>
          <p:cNvSpPr/>
          <p:nvPr/>
        </p:nvSpPr>
        <p:spPr>
          <a:xfrm>
            <a:off x="274320" y="576072"/>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System and identification</a:t>
            </a:r>
            <a:endParaRPr lang="en-US" sz="1100" dirty="0"/>
          </a:p>
        </p:txBody>
      </p:sp>
      <p:sp>
        <p:nvSpPr>
          <p:cNvPr id="7" name="Text 5"/>
          <p:cNvSpPr/>
          <p:nvPr/>
        </p:nvSpPr>
        <p:spPr>
          <a:xfrm>
            <a:off x="274320" y="850392"/>
            <a:ext cx="4206240" cy="256032"/>
          </a:xfrm>
          <a:prstGeom prst="rect">
            <a:avLst/>
          </a:prstGeom>
          <a:noFill/>
          <a:ln/>
        </p:spPr>
        <p:txBody>
          <a:bodyPr wrap="square" rtlCol="0" anchor="ctr"/>
          <a:lstStyle/>
          <a:p>
            <a:pPr marL="0" indent="0">
              <a:buNone/>
            </a:pPr>
            <a:r>
              <a:rPr lang="en-US" sz="1000" dirty="0">
                <a:solidFill>
                  <a:srgbClr val="1A202C"/>
                </a:solidFill>
                <a:latin typeface="Calibri" pitchFamily="34" charset="0"/>
                <a:ea typeface="Calibri" pitchFamily="34" charset="-122"/>
                <a:cs typeface="Calibri" pitchFamily="34" charset="-120"/>
              </a:rPr>
              <a:t>Following Istrefi &amp; Piloiu (2014) and Bernoth (2025). VAR with:</a:t>
            </a:r>
            <a:endParaRPr lang="en-US" sz="1000" dirty="0"/>
          </a:p>
        </p:txBody>
      </p:sp>
      <p:sp>
        <p:nvSpPr>
          <p:cNvPr id="8" name="Text 6"/>
          <p:cNvSpPr/>
          <p:nvPr/>
        </p:nvSpPr>
        <p:spPr>
          <a:xfrm>
            <a:off x="274320" y="1133856"/>
            <a:ext cx="4206240" cy="960120"/>
          </a:xfrm>
          <a:prstGeom prst="rect">
            <a:avLst/>
          </a:prstGeom>
          <a:noFill/>
          <a:ln/>
        </p:spPr>
        <p:txBody>
          <a:bodyPr wrap="square" rtlCol="0" anchor="t"/>
          <a:lstStyle/>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Monthly inflation (INDEC IPC)</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BCRA REM 12m inflation expectations</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net_hawkish_llm_z (NLP signal)</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Fiscal balance/GDP</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Monetary policy rate</a:t>
            </a:r>
            <a:endParaRPr lang="en-US" sz="1000" dirty="0"/>
          </a:p>
        </p:txBody>
      </p:sp>
      <p:sp>
        <p:nvSpPr>
          <p:cNvPr id="9" name="Text 7"/>
          <p:cNvSpPr/>
          <p:nvPr/>
        </p:nvSpPr>
        <p:spPr>
          <a:xfrm>
            <a:off x="274320" y="2148840"/>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Identification</a:t>
            </a:r>
            <a:endParaRPr lang="en-US" sz="1100" dirty="0"/>
          </a:p>
        </p:txBody>
      </p:sp>
      <p:sp>
        <p:nvSpPr>
          <p:cNvPr id="10" name="Text 8"/>
          <p:cNvSpPr/>
          <p:nvPr/>
        </p:nvSpPr>
        <p:spPr>
          <a:xfrm>
            <a:off x="274320" y="2423160"/>
            <a:ext cx="4206240" cy="1097280"/>
          </a:xfrm>
          <a:prstGeom prst="rect">
            <a:avLst/>
          </a:prstGeom>
          <a:noFill/>
          <a:ln/>
        </p:spPr>
        <p:txBody>
          <a:bodyPr wrap="square" rtlCol="0" anchor="t"/>
          <a:lstStyle/>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Sign restrictions: hawkishness shock → (+) signal, (−) inflation, (−) expectations</a:t>
            </a:r>
            <a:endParaRPr lang="en-US" sz="1000" dirty="0"/>
          </a:p>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Proxy-SVAR (narrative): narrative events as external instrument (Mertens &amp; Ravn 2013; Gertler &amp; Karadi 2015)</a:t>
            </a:r>
            <a:endParaRPr lang="en-US" sz="1000" dirty="0"/>
          </a:p>
          <a:p>
            <a:pPr marL="342900" indent="-342900">
              <a:spcAft>
                <a:spcPts val="400"/>
              </a:spcAft>
              <a:buSzPct val="100000"/>
              <a:buChar char="•"/>
            </a:pPr>
            <a:r>
              <a:rPr lang="en-US" sz="1000" dirty="0">
                <a:solidFill>
                  <a:srgbClr val="1A202C"/>
                </a:solidFill>
                <a:latin typeface="Calibri" pitchFamily="34" charset="0"/>
                <a:ea typeface="Calibri" pitchFamily="34" charset="-122"/>
                <a:cs typeface="Calibri" pitchFamily="34" charset="-120"/>
              </a:rPr>
              <a:t>Narrative events: DNU 70/2023, Dec 2023 devaluation, Ley Bases, inauguration addresses</a:t>
            </a:r>
            <a:endParaRPr lang="en-US" sz="1000" dirty="0"/>
          </a:p>
        </p:txBody>
      </p:sp>
      <p:sp>
        <p:nvSpPr>
          <p:cNvPr id="11" name="Text 9"/>
          <p:cNvSpPr/>
          <p:nvPr/>
        </p:nvSpPr>
        <p:spPr>
          <a:xfrm>
            <a:off x="4663440" y="576072"/>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Communication shock</a:t>
            </a:r>
            <a:endParaRPr lang="en-US" sz="1100" dirty="0"/>
          </a:p>
        </p:txBody>
      </p:sp>
      <p:sp>
        <p:nvSpPr>
          <p:cNvPr id="12" name="Text 10"/>
          <p:cNvSpPr/>
          <p:nvPr/>
        </p:nvSpPr>
        <p:spPr>
          <a:xfrm>
            <a:off x="4663440" y="850392"/>
            <a:ext cx="4206240" cy="914400"/>
          </a:xfrm>
          <a:prstGeom prst="rect">
            <a:avLst/>
          </a:prstGeom>
          <a:noFill/>
          <a:ln/>
        </p:spPr>
        <p:txBody>
          <a:bodyPr wrap="square" rtlCol="0" anchor="t"/>
          <a:lstStyle/>
          <a:p>
            <a:pPr marL="0" indent="0">
              <a:buNone/>
            </a:pPr>
            <a:r>
              <a:rPr lang="en-US" sz="1000" dirty="0">
                <a:solidFill>
                  <a:srgbClr val="1A202C"/>
                </a:solidFill>
                <a:latin typeface="Calibri" pitchFamily="34" charset="0"/>
                <a:ea typeface="Calibri" pitchFamily="34" charset="-122"/>
                <a:cs typeface="Calibri" pitchFamily="34" charset="-120"/>
              </a:rPr>
              <a:t>Following Bernoth (2025): structural shock is the residual after regressing the NLP signal on macro fundamentals and president fixed effects. This isolates the component of fiscal communication orthogonal to the macro environment.</a:t>
            </a:r>
            <a:endParaRPr lang="en-US" sz="1000" dirty="0"/>
          </a:p>
        </p:txBody>
      </p:sp>
      <p:sp>
        <p:nvSpPr>
          <p:cNvPr id="13" name="Text 11"/>
          <p:cNvSpPr/>
          <p:nvPr/>
        </p:nvSpPr>
        <p:spPr>
          <a:xfrm>
            <a:off x="4663440" y="1828800"/>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Bayesian estimation</a:t>
            </a:r>
            <a:endParaRPr lang="en-US" sz="1100" dirty="0"/>
          </a:p>
        </p:txBody>
      </p:sp>
      <p:sp>
        <p:nvSpPr>
          <p:cNvPr id="14" name="Text 12"/>
          <p:cNvSpPr/>
          <p:nvPr/>
        </p:nvSpPr>
        <p:spPr>
          <a:xfrm>
            <a:off x="4663440" y="2103120"/>
            <a:ext cx="4206240" cy="868680"/>
          </a:xfrm>
          <a:prstGeom prst="rect">
            <a:avLst/>
          </a:prstGeom>
          <a:noFill/>
          <a:ln/>
        </p:spPr>
        <p:txBody>
          <a:bodyPr wrap="square" rtlCol="0" anchor="t"/>
          <a:lstStyle/>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Minnesota prior (Litterman 1986)</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Gibbs sampling for posterior draws</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4 lags (AIC/BIC selection)</a:t>
            </a:r>
            <a:endParaRPr lang="en-US" sz="1000" dirty="0"/>
          </a:p>
          <a:p>
            <a:pPr marL="342900" indent="-342900">
              <a:spcAft>
                <a:spcPts val="300"/>
              </a:spcAft>
              <a:buSzPct val="100000"/>
              <a:buChar char="•"/>
            </a:pPr>
            <a:r>
              <a:rPr lang="en-US" sz="1000" dirty="0">
                <a:solidFill>
                  <a:srgbClr val="1A202C"/>
                </a:solidFill>
                <a:latin typeface="Calibri" pitchFamily="34" charset="0"/>
                <a:ea typeface="Calibri" pitchFamily="34" charset="-122"/>
                <a:cs typeface="Calibri" pitchFamily="34" charset="-120"/>
              </a:rPr>
              <a:t>Credible intervals from posterior distribution</a:t>
            </a:r>
            <a:endParaRPr lang="en-US" sz="1000" dirty="0"/>
          </a:p>
        </p:txBody>
      </p:sp>
      <p:sp>
        <p:nvSpPr>
          <p:cNvPr id="15" name="Text 13"/>
          <p:cNvSpPr/>
          <p:nvPr/>
        </p:nvSpPr>
        <p:spPr>
          <a:xfrm>
            <a:off x="4663440" y="3035808"/>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Robustness</a:t>
            </a:r>
            <a:endParaRPr lang="en-US" sz="1100" dirty="0"/>
          </a:p>
        </p:txBody>
      </p:sp>
      <p:sp>
        <p:nvSpPr>
          <p:cNvPr id="16" name="Text 14"/>
          <p:cNvSpPr/>
          <p:nvPr/>
        </p:nvSpPr>
        <p:spPr>
          <a:xfrm>
            <a:off x="4663440" y="3310128"/>
            <a:ext cx="4206240" cy="457200"/>
          </a:xfrm>
          <a:prstGeom prst="rect">
            <a:avLst/>
          </a:prstGeom>
          <a:noFill/>
          <a:ln/>
        </p:spPr>
        <p:txBody>
          <a:bodyPr wrap="square" rtlCol="0" anchor="t"/>
          <a:lstStyle/>
          <a:p>
            <a:pPr marL="0" indent="0">
              <a:buNone/>
            </a:pPr>
            <a:r>
              <a:rPr lang="en-US" sz="1000" dirty="0">
                <a:solidFill>
                  <a:srgbClr val="1A202C"/>
                </a:solidFill>
                <a:latin typeface="Calibri" pitchFamily="34" charset="0"/>
                <a:ea typeface="Calibri" pitchFamily="34" charset="-122"/>
                <a:cs typeface="Calibri" pitchFamily="34" charset="-120"/>
              </a:rPr>
              <a:t>Dictionary vs LLM signal; alternative variable orderings; lag-length stability; TVP-VAR (Primiceri 2005).</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2C5282"/>
          </a:solidFill>
          <a:ln w="12700">
            <a:solidFill>
              <a:srgbClr val="2C5282"/>
            </a:solidFill>
            <a:prstDash val="solid"/>
          </a:ln>
        </p:spPr>
        <p:txBody>
          <a:bodyPr/>
          <a:lstStyle/>
          <a:p>
            <a:endParaRPr lang="en-US"/>
          </a:p>
        </p:txBody>
      </p:sp>
      <p:sp>
        <p:nvSpPr>
          <p:cNvPr id="3" name="Text 1"/>
          <p:cNvSpPr/>
          <p:nvPr/>
        </p:nvSpPr>
        <p:spPr>
          <a:xfrm>
            <a:off x="274320" y="0"/>
            <a:ext cx="868680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BVAR — Results</a:t>
            </a:r>
            <a:endParaRPr lang="en-US" sz="1600" dirty="0"/>
          </a:p>
        </p:txBody>
      </p:sp>
      <p:sp>
        <p:nvSpPr>
          <p:cNvPr id="4" name="Text 2"/>
          <p:cNvSpPr/>
          <p:nvPr/>
        </p:nvSpPr>
        <p:spPr>
          <a:xfrm>
            <a:off x="274320" y="4901184"/>
            <a:ext cx="6858000" cy="182880"/>
          </a:xfrm>
          <a:prstGeom prst="rect">
            <a:avLst/>
          </a:prstGeom>
          <a:noFill/>
          <a:ln/>
        </p:spPr>
        <p:txBody>
          <a:bodyPr wrap="square" rtlCol="0" anchor="ctr"/>
          <a:lstStyle/>
          <a:p>
            <a:pPr marL="0" indent="0">
              <a:buNone/>
            </a:pPr>
            <a:r>
              <a:rPr lang="en-US" sz="750" dirty="0">
                <a:solidFill>
                  <a:srgbClr val="718096"/>
                </a:solidFill>
                <a:latin typeface="Calibri" pitchFamily="34" charset="0"/>
                <a:ea typeface="Calibri" pitchFamily="34" charset="-122"/>
                <a:cs typeface="Calibri" pitchFamily="34" charset="-120"/>
              </a:rPr>
              <a:t>Kazi, Eviston, Rubiano  ·  BSE Masters 2026</a:t>
            </a:r>
            <a:endParaRPr lang="en-US" sz="750" dirty="0"/>
          </a:p>
        </p:txBody>
      </p:sp>
      <p:sp>
        <p:nvSpPr>
          <p:cNvPr id="5" name="Text 3"/>
          <p:cNvSpPr/>
          <p:nvPr/>
        </p:nvSpPr>
        <p:spPr>
          <a:xfrm>
            <a:off x="8046720" y="4901184"/>
            <a:ext cx="914400" cy="182880"/>
          </a:xfrm>
          <a:prstGeom prst="rect">
            <a:avLst/>
          </a:prstGeom>
          <a:noFill/>
          <a:ln/>
        </p:spPr>
        <p:txBody>
          <a:bodyPr wrap="square" rtlCol="0" anchor="ctr"/>
          <a:lstStyle/>
          <a:p>
            <a:pPr marL="0" indent="0" algn="r">
              <a:buNone/>
            </a:pPr>
            <a:r>
              <a:rPr lang="en-US" sz="750" dirty="0">
                <a:solidFill>
                  <a:srgbClr val="718096"/>
                </a:solidFill>
                <a:latin typeface="Calibri" pitchFamily="34" charset="0"/>
                <a:ea typeface="Calibri" pitchFamily="34" charset="-122"/>
                <a:cs typeface="Calibri" pitchFamily="34" charset="-120"/>
              </a:rPr>
              <a:t>10 / 12</a:t>
            </a:r>
            <a:endParaRPr lang="en-US" sz="750" dirty="0"/>
          </a:p>
        </p:txBody>
      </p:sp>
      <p:sp>
        <p:nvSpPr>
          <p:cNvPr id="6" name="Shape 4"/>
          <p:cNvSpPr/>
          <p:nvPr/>
        </p:nvSpPr>
        <p:spPr>
          <a:xfrm>
            <a:off x="274320" y="576072"/>
            <a:ext cx="4206240" cy="3749040"/>
          </a:xfrm>
          <a:prstGeom prst="rect">
            <a:avLst/>
          </a:prstGeom>
          <a:solidFill>
            <a:srgbClr val="EBF4FF"/>
          </a:solidFill>
          <a:ln w="12700">
            <a:solidFill>
              <a:srgbClr val="2C5282"/>
            </a:solidFill>
            <a:prstDash val="solid"/>
          </a:ln>
        </p:spPr>
        <p:txBody>
          <a:bodyPr/>
          <a:lstStyle/>
          <a:p>
            <a:endParaRPr lang="en-US"/>
          </a:p>
        </p:txBody>
      </p:sp>
      <p:sp>
        <p:nvSpPr>
          <p:cNvPr id="7" name="Shape 5"/>
          <p:cNvSpPr/>
          <p:nvPr/>
        </p:nvSpPr>
        <p:spPr>
          <a:xfrm>
            <a:off x="274320" y="576072"/>
            <a:ext cx="4206240" cy="246888"/>
          </a:xfrm>
          <a:prstGeom prst="rect">
            <a:avLst/>
          </a:prstGeom>
          <a:solidFill>
            <a:srgbClr val="2C5282"/>
          </a:solidFill>
          <a:ln w="12700">
            <a:solidFill>
              <a:srgbClr val="2C5282"/>
            </a:solidFill>
            <a:prstDash val="solid"/>
          </a:ln>
        </p:spPr>
        <p:txBody>
          <a:bodyPr/>
          <a:lstStyle/>
          <a:p>
            <a:endParaRPr lang="en-US"/>
          </a:p>
        </p:txBody>
      </p:sp>
      <p:sp>
        <p:nvSpPr>
          <p:cNvPr id="8" name="Text 6"/>
          <p:cNvSpPr/>
          <p:nvPr/>
        </p:nvSpPr>
        <p:spPr>
          <a:xfrm>
            <a:off x="365760" y="576072"/>
            <a:ext cx="4023360" cy="24688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IRF: Hawkishness → REM Expectations</a:t>
            </a:r>
            <a:endParaRPr lang="en-US" sz="900" dirty="0"/>
          </a:p>
        </p:txBody>
      </p:sp>
      <p:sp>
        <p:nvSpPr>
          <p:cNvPr id="9" name="Text 7"/>
          <p:cNvSpPr/>
          <p:nvPr/>
        </p:nvSpPr>
        <p:spPr>
          <a:xfrm>
            <a:off x="365760" y="841248"/>
            <a:ext cx="4023360" cy="3447288"/>
          </a:xfrm>
          <a:prstGeom prst="rect">
            <a:avLst/>
          </a:prstGeom>
          <a:noFill/>
          <a:ln/>
        </p:spPr>
        <p:txBody>
          <a:bodyPr wrap="square" rtlCol="0" anchor="t"/>
          <a:lstStyle/>
          <a:p>
            <a:pPr marL="0" indent="0">
              <a:buNone/>
            </a:pPr>
            <a:endParaRPr lang="en-US" sz="900" dirty="0"/>
          </a:p>
        </p:txBody>
      </p:sp>
      <p:sp>
        <p:nvSpPr>
          <p:cNvPr id="10" name="Shape 8"/>
          <p:cNvSpPr/>
          <p:nvPr/>
        </p:nvSpPr>
        <p:spPr>
          <a:xfrm>
            <a:off x="274320" y="914400"/>
            <a:ext cx="4206240" cy="3337560"/>
          </a:xfrm>
          <a:prstGeom prst="rect">
            <a:avLst/>
          </a:prstGeom>
          <a:solidFill>
            <a:srgbClr val="EBF4FF"/>
          </a:solidFill>
          <a:ln w="12700">
            <a:solidFill>
              <a:srgbClr val="2C5282"/>
            </a:solidFill>
            <a:prstDash val="dash"/>
          </a:ln>
        </p:spPr>
        <p:txBody>
          <a:bodyPr/>
          <a:lstStyle/>
          <a:p>
            <a:endParaRPr lang="en-US"/>
          </a:p>
        </p:txBody>
      </p:sp>
      <p:sp>
        <p:nvSpPr>
          <p:cNvPr id="11" name="Text 9"/>
          <p:cNvSpPr/>
          <p:nvPr/>
        </p:nvSpPr>
        <p:spPr>
          <a:xfrm>
            <a:off x="274320" y="914400"/>
            <a:ext cx="4206240" cy="3337560"/>
          </a:xfrm>
          <a:prstGeom prst="rect">
            <a:avLst/>
          </a:prstGeom>
          <a:noFill/>
          <a:ln/>
        </p:spPr>
        <p:txBody>
          <a:bodyPr wrap="square" rtlCol="0" anchor="ctr"/>
          <a:lstStyle/>
          <a:p>
            <a:pPr marL="0" indent="0" algn="ctr">
              <a:buNone/>
            </a:pPr>
            <a:r>
              <a:rPr lang="en-US" sz="900" i="1" dirty="0">
                <a:solidFill>
                  <a:srgbClr val="4A5568"/>
                </a:solidFill>
                <a:latin typeface="Calibri" pitchFamily="34" charset="0"/>
                <a:ea typeface="Calibri" pitchFamily="34" charset="-122"/>
                <a:cs typeface="Calibri" pitchFamily="34" charset="-120"/>
              </a:rPr>
              <a:t>[Insert BVAR IRF:</a:t>
            </a:r>
            <a:endParaRPr lang="en-US" sz="900" dirty="0"/>
          </a:p>
          <a:p>
            <a:pPr marL="0" indent="0" algn="ctr">
              <a:buNone/>
            </a:pPr>
            <a:r>
              <a:rPr lang="en-US" sz="900" i="1" dirty="0">
                <a:solidFill>
                  <a:srgbClr val="4A5568"/>
                </a:solidFill>
                <a:latin typeface="Calibri" pitchFamily="34" charset="0"/>
                <a:ea typeface="Calibri" pitchFamily="34" charset="-122"/>
                <a:cs typeface="Calibri" pitchFamily="34" charset="-120"/>
              </a:rPr>
              <a:t>hawkishness shock</a:t>
            </a:r>
            <a:endParaRPr lang="en-US" sz="900" dirty="0"/>
          </a:p>
          <a:p>
            <a:pPr marL="0" indent="0" algn="ctr">
              <a:buNone/>
            </a:pPr>
            <a:r>
              <a:rPr lang="en-US" sz="900" i="1" dirty="0">
                <a:solidFill>
                  <a:srgbClr val="4A5568"/>
                </a:solidFill>
                <a:latin typeface="Calibri" pitchFamily="34" charset="0"/>
                <a:ea typeface="Calibri" pitchFamily="34" charset="-122"/>
                <a:cs typeface="Calibri" pitchFamily="34" charset="-120"/>
              </a:rPr>
              <a:t>→ 12m REM expectations]</a:t>
            </a:r>
            <a:endParaRPr lang="en-US" sz="900" dirty="0"/>
          </a:p>
        </p:txBody>
      </p:sp>
      <p:sp>
        <p:nvSpPr>
          <p:cNvPr id="12" name="Shape 10"/>
          <p:cNvSpPr/>
          <p:nvPr/>
        </p:nvSpPr>
        <p:spPr>
          <a:xfrm>
            <a:off x="4572000" y="576072"/>
            <a:ext cx="4297680" cy="3749040"/>
          </a:xfrm>
          <a:prstGeom prst="rect">
            <a:avLst/>
          </a:prstGeom>
          <a:solidFill>
            <a:srgbClr val="EBF4FF"/>
          </a:solidFill>
          <a:ln w="12700">
            <a:solidFill>
              <a:srgbClr val="2C5282"/>
            </a:solidFill>
            <a:prstDash val="solid"/>
          </a:ln>
        </p:spPr>
        <p:txBody>
          <a:bodyPr/>
          <a:lstStyle/>
          <a:p>
            <a:endParaRPr lang="en-US"/>
          </a:p>
        </p:txBody>
      </p:sp>
      <p:sp>
        <p:nvSpPr>
          <p:cNvPr id="13" name="Shape 11"/>
          <p:cNvSpPr/>
          <p:nvPr/>
        </p:nvSpPr>
        <p:spPr>
          <a:xfrm>
            <a:off x="4572000" y="576072"/>
            <a:ext cx="4297680" cy="246888"/>
          </a:xfrm>
          <a:prstGeom prst="rect">
            <a:avLst/>
          </a:prstGeom>
          <a:solidFill>
            <a:srgbClr val="2C5282"/>
          </a:solidFill>
          <a:ln w="12700">
            <a:solidFill>
              <a:srgbClr val="2C5282"/>
            </a:solidFill>
            <a:prstDash val="solid"/>
          </a:ln>
        </p:spPr>
        <p:txBody>
          <a:bodyPr/>
          <a:lstStyle/>
          <a:p>
            <a:endParaRPr lang="en-US"/>
          </a:p>
        </p:txBody>
      </p:sp>
      <p:sp>
        <p:nvSpPr>
          <p:cNvPr id="14" name="Text 12"/>
          <p:cNvSpPr/>
          <p:nvPr/>
        </p:nvSpPr>
        <p:spPr>
          <a:xfrm>
            <a:off x="4663440" y="576072"/>
            <a:ext cx="4114800" cy="24688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IRF: Hawkishness → Inflation</a:t>
            </a:r>
            <a:endParaRPr lang="en-US" sz="900" dirty="0"/>
          </a:p>
        </p:txBody>
      </p:sp>
      <p:sp>
        <p:nvSpPr>
          <p:cNvPr id="15" name="Text 13"/>
          <p:cNvSpPr/>
          <p:nvPr/>
        </p:nvSpPr>
        <p:spPr>
          <a:xfrm>
            <a:off x="4663440" y="841248"/>
            <a:ext cx="4114800" cy="3447288"/>
          </a:xfrm>
          <a:prstGeom prst="rect">
            <a:avLst/>
          </a:prstGeom>
          <a:noFill/>
          <a:ln/>
        </p:spPr>
        <p:txBody>
          <a:bodyPr wrap="square" rtlCol="0" anchor="t"/>
          <a:lstStyle/>
          <a:p>
            <a:pPr marL="0" indent="0">
              <a:buNone/>
            </a:pPr>
            <a:endParaRPr lang="en-US" sz="900" dirty="0"/>
          </a:p>
        </p:txBody>
      </p:sp>
      <p:sp>
        <p:nvSpPr>
          <p:cNvPr id="16" name="Shape 14"/>
          <p:cNvSpPr/>
          <p:nvPr/>
        </p:nvSpPr>
        <p:spPr>
          <a:xfrm>
            <a:off x="4572000" y="914400"/>
            <a:ext cx="4297680" cy="3337560"/>
          </a:xfrm>
          <a:prstGeom prst="rect">
            <a:avLst/>
          </a:prstGeom>
          <a:solidFill>
            <a:srgbClr val="EBF4FF"/>
          </a:solidFill>
          <a:ln w="12700">
            <a:solidFill>
              <a:srgbClr val="2C5282"/>
            </a:solidFill>
            <a:prstDash val="dash"/>
          </a:ln>
        </p:spPr>
        <p:txBody>
          <a:bodyPr/>
          <a:lstStyle/>
          <a:p>
            <a:endParaRPr lang="en-US"/>
          </a:p>
        </p:txBody>
      </p:sp>
      <p:sp>
        <p:nvSpPr>
          <p:cNvPr id="17" name="Text 15"/>
          <p:cNvSpPr/>
          <p:nvPr/>
        </p:nvSpPr>
        <p:spPr>
          <a:xfrm>
            <a:off x="4572000" y="914400"/>
            <a:ext cx="4297680" cy="3337560"/>
          </a:xfrm>
          <a:prstGeom prst="rect">
            <a:avLst/>
          </a:prstGeom>
          <a:noFill/>
          <a:ln/>
        </p:spPr>
        <p:txBody>
          <a:bodyPr wrap="square" rtlCol="0" anchor="ctr"/>
          <a:lstStyle/>
          <a:p>
            <a:pPr marL="0" indent="0" algn="ctr">
              <a:buNone/>
            </a:pPr>
            <a:r>
              <a:rPr lang="en-US" sz="900" i="1" dirty="0">
                <a:solidFill>
                  <a:srgbClr val="4A5568"/>
                </a:solidFill>
                <a:latin typeface="Calibri" pitchFamily="34" charset="0"/>
                <a:ea typeface="Calibri" pitchFamily="34" charset="-122"/>
                <a:cs typeface="Calibri" pitchFamily="34" charset="-120"/>
              </a:rPr>
              <a:t>[Insert BVAR IRF:</a:t>
            </a:r>
            <a:endParaRPr lang="en-US" sz="900" dirty="0"/>
          </a:p>
          <a:p>
            <a:pPr marL="0" indent="0" algn="ctr">
              <a:buNone/>
            </a:pPr>
            <a:r>
              <a:rPr lang="en-US" sz="900" i="1" dirty="0">
                <a:solidFill>
                  <a:srgbClr val="4A5568"/>
                </a:solidFill>
                <a:latin typeface="Calibri" pitchFamily="34" charset="0"/>
                <a:ea typeface="Calibri" pitchFamily="34" charset="-122"/>
                <a:cs typeface="Calibri" pitchFamily="34" charset="-120"/>
              </a:rPr>
              <a:t>hawkishness shock</a:t>
            </a:r>
            <a:endParaRPr lang="en-US" sz="900" dirty="0"/>
          </a:p>
          <a:p>
            <a:pPr marL="0" indent="0" algn="ctr">
              <a:buNone/>
            </a:pPr>
            <a:r>
              <a:rPr lang="en-US" sz="900" i="1" dirty="0">
                <a:solidFill>
                  <a:srgbClr val="4A5568"/>
                </a:solidFill>
                <a:latin typeface="Calibri" pitchFamily="34" charset="0"/>
                <a:ea typeface="Calibri" pitchFamily="34" charset="-122"/>
                <a:cs typeface="Calibri" pitchFamily="34" charset="-120"/>
              </a:rPr>
              <a:t>→ monthly CPI inflation]</a:t>
            </a:r>
            <a:endParaRPr lang="en-US" sz="900" dirty="0"/>
          </a:p>
        </p:txBody>
      </p:sp>
      <p:sp>
        <p:nvSpPr>
          <p:cNvPr id="18" name="Text 16"/>
          <p:cNvSpPr/>
          <p:nvPr/>
        </p:nvSpPr>
        <p:spPr>
          <a:xfrm>
            <a:off x="274320" y="4407408"/>
            <a:ext cx="8595360" cy="320040"/>
          </a:xfrm>
          <a:prstGeom prst="rect">
            <a:avLst/>
          </a:prstGeom>
          <a:noFill/>
          <a:ln/>
        </p:spPr>
        <p:txBody>
          <a:bodyPr wrap="square"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Robustness check:</a:t>
            </a:r>
            <a:r>
              <a:rPr lang="en-US" sz="1000" dirty="0">
                <a:solidFill>
                  <a:srgbClr val="1A202C"/>
                </a:solidFill>
                <a:latin typeface="Calibri" pitchFamily="34" charset="0"/>
                <a:ea typeface="Calibri" pitchFamily="34" charset="-122"/>
                <a:cs typeface="Calibri" pitchFamily="34" charset="-120"/>
              </a:rPr>
              <a:t> IRFs using dictionary signal (net_hawkish_z) should broadly replicate — ρ = 0.835 between signals provides prior expectation of similar direction.</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2C5282"/>
          </a:solidFill>
          <a:ln w="12700">
            <a:solidFill>
              <a:srgbClr val="2C5282"/>
            </a:solidFill>
            <a:prstDash val="solid"/>
          </a:ln>
        </p:spPr>
        <p:txBody>
          <a:bodyPr/>
          <a:lstStyle/>
          <a:p>
            <a:endParaRPr lang="en-US"/>
          </a:p>
        </p:txBody>
      </p:sp>
      <p:sp>
        <p:nvSpPr>
          <p:cNvPr id="3" name="Text 1"/>
          <p:cNvSpPr/>
          <p:nvPr/>
        </p:nvSpPr>
        <p:spPr>
          <a:xfrm>
            <a:off x="274320" y="0"/>
            <a:ext cx="868680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Next Steps &amp; Open Questions</a:t>
            </a:r>
            <a:endParaRPr lang="en-US" sz="1600" dirty="0"/>
          </a:p>
        </p:txBody>
      </p:sp>
      <p:sp>
        <p:nvSpPr>
          <p:cNvPr id="4" name="Text 2"/>
          <p:cNvSpPr/>
          <p:nvPr/>
        </p:nvSpPr>
        <p:spPr>
          <a:xfrm>
            <a:off x="274320" y="4901184"/>
            <a:ext cx="6858000" cy="182880"/>
          </a:xfrm>
          <a:prstGeom prst="rect">
            <a:avLst/>
          </a:prstGeom>
          <a:noFill/>
          <a:ln/>
        </p:spPr>
        <p:txBody>
          <a:bodyPr wrap="square" rtlCol="0" anchor="ctr"/>
          <a:lstStyle/>
          <a:p>
            <a:pPr marL="0" indent="0">
              <a:buNone/>
            </a:pPr>
            <a:r>
              <a:rPr lang="en-US" sz="750" dirty="0">
                <a:solidFill>
                  <a:srgbClr val="718096"/>
                </a:solidFill>
                <a:latin typeface="Calibri" pitchFamily="34" charset="0"/>
                <a:ea typeface="Calibri" pitchFamily="34" charset="-122"/>
                <a:cs typeface="Calibri" pitchFamily="34" charset="-120"/>
              </a:rPr>
              <a:t>Kazi, Eviston, Rubiano  ·  BSE Masters 2026</a:t>
            </a:r>
            <a:endParaRPr lang="en-US" sz="750" dirty="0"/>
          </a:p>
        </p:txBody>
      </p:sp>
      <p:sp>
        <p:nvSpPr>
          <p:cNvPr id="5" name="Text 3"/>
          <p:cNvSpPr/>
          <p:nvPr/>
        </p:nvSpPr>
        <p:spPr>
          <a:xfrm>
            <a:off x="8046720" y="4901184"/>
            <a:ext cx="914400" cy="182880"/>
          </a:xfrm>
          <a:prstGeom prst="rect">
            <a:avLst/>
          </a:prstGeom>
          <a:noFill/>
          <a:ln/>
        </p:spPr>
        <p:txBody>
          <a:bodyPr wrap="square" rtlCol="0" anchor="ctr"/>
          <a:lstStyle/>
          <a:p>
            <a:pPr marL="0" indent="0" algn="r">
              <a:buNone/>
            </a:pPr>
            <a:r>
              <a:rPr lang="en-US" sz="750" dirty="0">
                <a:solidFill>
                  <a:srgbClr val="718096"/>
                </a:solidFill>
                <a:latin typeface="Calibri" pitchFamily="34" charset="0"/>
                <a:ea typeface="Calibri" pitchFamily="34" charset="-122"/>
                <a:cs typeface="Calibri" pitchFamily="34" charset="-120"/>
              </a:rPr>
              <a:t>11 / 12</a:t>
            </a:r>
            <a:endParaRPr lang="en-US" sz="750" dirty="0"/>
          </a:p>
        </p:txBody>
      </p:sp>
      <p:sp>
        <p:nvSpPr>
          <p:cNvPr id="6" name="Text 4"/>
          <p:cNvSpPr/>
          <p:nvPr/>
        </p:nvSpPr>
        <p:spPr>
          <a:xfrm>
            <a:off x="274320" y="576072"/>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Signal pipeline — pending</a:t>
            </a:r>
            <a:endParaRPr lang="en-US" sz="1100" dirty="0"/>
          </a:p>
        </p:txBody>
      </p:sp>
      <p:sp>
        <p:nvSpPr>
          <p:cNvPr id="7" name="Text 5"/>
          <p:cNvSpPr/>
          <p:nvPr/>
        </p:nvSpPr>
        <p:spPr>
          <a:xfrm>
            <a:off x="274320" y="868680"/>
            <a:ext cx="4114800" cy="3840480"/>
          </a:xfrm>
          <a:prstGeom prst="rect">
            <a:avLst/>
          </a:prstGeom>
          <a:noFill/>
          <a:ln/>
        </p:spPr>
        <p:txBody>
          <a:bodyPr wrap="square" rtlCol="0" anchor="t"/>
          <a:lstStyle/>
          <a:p>
            <a:pPr marL="0" indent="0">
              <a:spcAft>
                <a:spcPts val="300"/>
              </a:spcAft>
              <a:buNone/>
            </a:pPr>
            <a:r>
              <a:rPr lang="en-US" sz="1000" b="1" dirty="0">
                <a:solidFill>
                  <a:srgbClr val="1A202C"/>
                </a:solidFill>
                <a:latin typeface="Calibri" pitchFamily="34" charset="0"/>
                <a:ea typeface="Calibri" pitchFamily="34" charset="-122"/>
                <a:cs typeface="Calibri" pitchFamily="34" charset="-120"/>
              </a:rPr>
              <a:t>1.  Human validation (blocking)
</a:t>
            </a:r>
            <a:r>
              <a:rPr lang="en-US" sz="1000" dirty="0">
                <a:solidFill>
                  <a:srgbClr val="1A202C"/>
                </a:solidFill>
                <a:latin typeface="Calibri" pitchFamily="34" charset="0"/>
                <a:ea typeface="Calibri" pitchFamily="34" charset="-122"/>
                <a:cs typeface="Calibri" pitchFamily="34" charset="-120"/>
              </a:rPr>
              <a:t>Label ∼60 paragraphs (20 per class), stratified by president. Precision/recall/F1 vs LLM. Required for thesis defense.
</a:t>
            </a:r>
            <a:r>
              <a:rPr lang="en-US" sz="1000" b="1" dirty="0">
                <a:solidFill>
                  <a:srgbClr val="1A202C"/>
                </a:solidFill>
                <a:latin typeface="Calibri" pitchFamily="34" charset="0"/>
                <a:ea typeface="Calibri" pitchFamily="34" charset="-122"/>
                <a:cs typeface="Calibri" pitchFamily="34" charset="-120"/>
              </a:rPr>
              <a:t>2.  Few-shot robustness
</a:t>
            </a:r>
            <a:r>
              <a:rPr lang="en-US" sz="1000" dirty="0">
                <a:solidFill>
                  <a:srgbClr val="1A202C"/>
                </a:solidFill>
                <a:latin typeface="Calibri" pitchFamily="34" charset="0"/>
                <a:ea typeface="Calibri" pitchFamily="34" charset="-122"/>
                <a:cs typeface="Calibri" pitchFamily="34" charset="-120"/>
              </a:rPr>
              <a:t>9 labeled Spanish examples in LLM prompt (3 per class). Re-run; compare ρ against zero-shot baseline (target ρ &gt; 0.85).
</a:t>
            </a:r>
            <a:r>
              <a:rPr lang="en-US" sz="1000" b="1" dirty="0">
                <a:solidFill>
                  <a:srgbClr val="1A202C"/>
                </a:solidFill>
                <a:latin typeface="Calibri" pitchFamily="34" charset="0"/>
                <a:ea typeface="Calibri" pitchFamily="34" charset="-122"/>
                <a:cs typeface="Calibri" pitchFamily="34" charset="-120"/>
              </a:rPr>
              <a:t>3.  External validation (Stage 6)
</a:t>
            </a:r>
            <a:r>
              <a:rPr lang="en-US" sz="1000" dirty="0">
                <a:solidFill>
                  <a:srgbClr val="1A202C"/>
                </a:solidFill>
                <a:latin typeface="Calibri" pitchFamily="34" charset="0"/>
                <a:ea typeface="Calibri" pitchFamily="34" charset="-122"/>
                <a:cs typeface="Calibri" pitchFamily="34" charset="-120"/>
              </a:rPr>
              <a:t>Correlate net_hawkish_llm_z with: primary fiscal balance/GDP, EMBI+ Argentina spread, ARS/USD parallel rate.</a:t>
            </a:r>
            <a:endParaRPr lang="en-US" sz="1000" dirty="0"/>
          </a:p>
        </p:txBody>
      </p:sp>
      <p:sp>
        <p:nvSpPr>
          <p:cNvPr id="8" name="Text 6"/>
          <p:cNvSpPr/>
          <p:nvPr/>
        </p:nvSpPr>
        <p:spPr>
          <a:xfrm>
            <a:off x="4663440" y="576072"/>
            <a:ext cx="4206240" cy="246888"/>
          </a:xfrm>
          <a:prstGeom prst="rect">
            <a:avLst/>
          </a:prstGeom>
          <a:noFill/>
          <a:ln/>
        </p:spPr>
        <p:txBody>
          <a:bodyPr wrap="square" rtlCol="0" anchor="ctr"/>
          <a:lstStyle/>
          <a:p>
            <a:pPr marL="0" indent="0">
              <a:buNone/>
            </a:pPr>
            <a:r>
              <a:rPr lang="en-US" sz="1100" b="1" dirty="0">
                <a:solidFill>
                  <a:srgbClr val="2C5282"/>
                </a:solidFill>
                <a:latin typeface="Calibri" pitchFamily="34" charset="0"/>
                <a:ea typeface="Calibri" pitchFamily="34" charset="-122"/>
                <a:cs typeface="Calibri" pitchFamily="34" charset="-120"/>
              </a:rPr>
              <a:t>Econometrics — pending</a:t>
            </a:r>
            <a:endParaRPr lang="en-US" sz="1100" dirty="0"/>
          </a:p>
        </p:txBody>
      </p:sp>
      <p:sp>
        <p:nvSpPr>
          <p:cNvPr id="9" name="Text 7"/>
          <p:cNvSpPr/>
          <p:nvPr/>
        </p:nvSpPr>
        <p:spPr>
          <a:xfrm>
            <a:off x="4663440" y="868680"/>
            <a:ext cx="4206240" cy="2697480"/>
          </a:xfrm>
          <a:prstGeom prst="rect">
            <a:avLst/>
          </a:prstGeom>
          <a:noFill/>
          <a:ln/>
        </p:spPr>
        <p:txBody>
          <a:bodyPr wrap="square" rtlCol="0" anchor="t"/>
          <a:lstStyle/>
          <a:p>
            <a:pPr marL="0" indent="0">
              <a:spcAft>
                <a:spcPts val="300"/>
              </a:spcAft>
              <a:buNone/>
            </a:pPr>
            <a:r>
              <a:rPr lang="en-US" sz="1000" b="1" dirty="0">
                <a:solidFill>
                  <a:srgbClr val="1A202C"/>
                </a:solidFill>
                <a:latin typeface="Calibri" pitchFamily="34" charset="0"/>
                <a:ea typeface="Calibri" pitchFamily="34" charset="-122"/>
                <a:cs typeface="Calibri" pitchFamily="34" charset="-120"/>
              </a:rPr>
              <a:t>1.  LP estimation (R, lpirfs)
</a:t>
            </a:r>
            <a:r>
              <a:rPr lang="en-US" sz="1000" dirty="0">
                <a:solidFill>
                  <a:srgbClr val="1A202C"/>
                </a:solidFill>
                <a:latin typeface="Calibri" pitchFamily="34" charset="0"/>
                <a:ea typeface="Calibri" pitchFamily="34" charset="-122"/>
                <a:cs typeface="Calibri" pitchFamily="34" charset="-120"/>
              </a:rPr>
              <a:t>Baseline and interaction-term IRFs for all outcome variables; Newey–West and LP-IV variants.
</a:t>
            </a:r>
            <a:r>
              <a:rPr lang="en-US" sz="1000" b="1" dirty="0">
                <a:solidFill>
                  <a:srgbClr val="1A202C"/>
                </a:solidFill>
                <a:latin typeface="Calibri" pitchFamily="34" charset="0"/>
                <a:ea typeface="Calibri" pitchFamily="34" charset="-122"/>
                <a:cs typeface="Calibri" pitchFamily="34" charset="-120"/>
              </a:rPr>
              <a:t>2.  BVAR estimation
</a:t>
            </a:r>
            <a:r>
              <a:rPr lang="en-US" sz="1000" dirty="0">
                <a:solidFill>
                  <a:srgbClr val="1A202C"/>
                </a:solidFill>
                <a:latin typeface="Calibri" pitchFamily="34" charset="0"/>
                <a:ea typeface="Calibri" pitchFamily="34" charset="-122"/>
                <a:cs typeface="Calibri" pitchFamily="34" charset="-120"/>
              </a:rPr>
              <a:t>Minnesota prior; sign restrictions and proxy-SVAR identification; TVP robustness.
</a:t>
            </a:r>
            <a:r>
              <a:rPr lang="en-US" sz="1000" b="1" dirty="0">
                <a:solidFill>
                  <a:srgbClr val="1A202C"/>
                </a:solidFill>
                <a:latin typeface="Calibri" pitchFamily="34" charset="0"/>
                <a:ea typeface="Calibri" pitchFamily="34" charset="-122"/>
                <a:cs typeface="Calibri" pitchFamily="34" charset="-120"/>
              </a:rPr>
              <a:t>3.  Robustness suite
</a:t>
            </a:r>
            <a:r>
              <a:rPr lang="en-US" sz="1000" dirty="0">
                <a:solidFill>
                  <a:srgbClr val="1A202C"/>
                </a:solidFill>
                <a:latin typeface="Calibri" pitchFamily="34" charset="0"/>
                <a:ea typeface="Calibri" pitchFamily="34" charset="-122"/>
                <a:cs typeface="Calibri" pitchFamily="34" charset="-120"/>
              </a:rPr>
              <a:t>Signal (LLM vs dictionary), lag length, subsample, document unit (sentence vs paragraph).</a:t>
            </a:r>
            <a:endParaRPr lang="en-US" sz="1000" dirty="0"/>
          </a:p>
        </p:txBody>
      </p:sp>
      <p:sp>
        <p:nvSpPr>
          <p:cNvPr id="10" name="Shape 8"/>
          <p:cNvSpPr/>
          <p:nvPr/>
        </p:nvSpPr>
        <p:spPr>
          <a:xfrm>
            <a:off x="4663440" y="3657600"/>
            <a:ext cx="4206240" cy="1051560"/>
          </a:xfrm>
          <a:prstGeom prst="rect">
            <a:avLst/>
          </a:prstGeom>
          <a:solidFill>
            <a:srgbClr val="FED7D7"/>
          </a:solidFill>
          <a:ln w="12700">
            <a:solidFill>
              <a:srgbClr val="C53030"/>
            </a:solidFill>
            <a:prstDash val="solid"/>
          </a:ln>
        </p:spPr>
        <p:txBody>
          <a:bodyPr/>
          <a:lstStyle/>
          <a:p>
            <a:endParaRPr lang="en-US"/>
          </a:p>
        </p:txBody>
      </p:sp>
      <p:sp>
        <p:nvSpPr>
          <p:cNvPr id="11" name="Shape 9"/>
          <p:cNvSpPr/>
          <p:nvPr/>
        </p:nvSpPr>
        <p:spPr>
          <a:xfrm>
            <a:off x="4663440" y="3657600"/>
            <a:ext cx="4206240" cy="246888"/>
          </a:xfrm>
          <a:prstGeom prst="rect">
            <a:avLst/>
          </a:prstGeom>
          <a:solidFill>
            <a:srgbClr val="C53030"/>
          </a:solidFill>
          <a:ln w="12700">
            <a:solidFill>
              <a:srgbClr val="C53030"/>
            </a:solidFill>
            <a:prstDash val="solid"/>
          </a:ln>
        </p:spPr>
        <p:txBody>
          <a:bodyPr/>
          <a:lstStyle/>
          <a:p>
            <a:endParaRPr lang="en-US"/>
          </a:p>
        </p:txBody>
      </p:sp>
      <p:sp>
        <p:nvSpPr>
          <p:cNvPr id="12" name="Text 10"/>
          <p:cNvSpPr/>
          <p:nvPr/>
        </p:nvSpPr>
        <p:spPr>
          <a:xfrm>
            <a:off x="4754880" y="3657600"/>
            <a:ext cx="4023360" cy="246888"/>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Open questions for discussion</a:t>
            </a:r>
            <a:endParaRPr lang="en-US" sz="900" dirty="0"/>
          </a:p>
        </p:txBody>
      </p:sp>
      <p:sp>
        <p:nvSpPr>
          <p:cNvPr id="13" name="Text 11"/>
          <p:cNvSpPr/>
          <p:nvPr/>
        </p:nvSpPr>
        <p:spPr>
          <a:xfrm>
            <a:off x="4754880" y="3922776"/>
            <a:ext cx="4023360" cy="749808"/>
          </a:xfrm>
          <a:prstGeom prst="rect">
            <a:avLst/>
          </a:prstGeom>
          <a:noFill/>
          <a:ln/>
        </p:spPr>
        <p:txBody>
          <a:bodyPr wrap="square" rtlCol="0" anchor="t"/>
          <a:lstStyle/>
          <a:p>
            <a:pPr marL="0" indent="0">
              <a:buNone/>
            </a:pPr>
            <a:r>
              <a:rPr lang="en-US" sz="900" dirty="0">
                <a:solidFill>
                  <a:srgbClr val="1A202C"/>
                </a:solidFill>
                <a:latin typeface="Calibri" pitchFamily="34" charset="0"/>
                <a:ea typeface="Calibri" pitchFamily="34" charset="-122"/>
                <a:cs typeface="Calibri" pitchFamily="34" charset="-120"/>
              </a:rPr>
              <a:t>Treatment of 2 missing AF months (Jan 2020, Nov 2023)?</a:t>
            </a:r>
            <a:endParaRPr lang="en-US" sz="900" dirty="0"/>
          </a:p>
          <a:p>
            <a:pPr marL="0" indent="0">
              <a:buNone/>
            </a:pPr>
            <a:endParaRPr lang="en-US" sz="900" dirty="0"/>
          </a:p>
          <a:p>
            <a:pPr marL="0" indent="0">
              <a:buNone/>
            </a:pPr>
            <a:r>
              <a:rPr lang="en-US" sz="900" dirty="0">
                <a:solidFill>
                  <a:srgbClr val="1A202C"/>
                </a:solidFill>
                <a:latin typeface="Calibri" pitchFamily="34" charset="0"/>
                <a:ea typeface="Calibri" pitchFamily="34" charset="-122"/>
                <a:cs typeface="Calibri" pitchFamily="34" charset="-120"/>
              </a:rPr>
              <a:t>Pₜ threshold to exclude thin months (Feb 2026: Pₜ=1)?</a:t>
            </a:r>
            <a:endParaRPr lang="en-US" sz="900" dirty="0"/>
          </a:p>
          <a:p>
            <a:pPr marL="0" indent="0">
              <a:buNone/>
            </a:pPr>
            <a:endParaRPr lang="en-US" sz="900" dirty="0"/>
          </a:p>
          <a:p>
            <a:pPr marL="0" indent="0">
              <a:buNone/>
            </a:pPr>
            <a:r>
              <a:rPr lang="en-US" sz="900" dirty="0">
                <a:solidFill>
                  <a:srgbClr val="1A202C"/>
                </a:solidFill>
                <a:latin typeface="Calibri" pitchFamily="34" charset="0"/>
                <a:ea typeface="Calibri" pitchFamily="34" charset="-122"/>
                <a:cs typeface="Calibri" pitchFamily="34" charset="-120"/>
              </a:rPr>
              <a:t>Which expectation horizon leads the story — 12m or 24m?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2C5282"/>
          </a:solidFill>
          <a:ln w="12700">
            <a:solidFill>
              <a:srgbClr val="2C5282"/>
            </a:solidFill>
            <a:prstDash val="solid"/>
          </a:ln>
        </p:spPr>
        <p:txBody>
          <a:bodyPr/>
          <a:lstStyle/>
          <a:p>
            <a:endParaRPr lang="en-US"/>
          </a:p>
        </p:txBody>
      </p:sp>
      <p:sp>
        <p:nvSpPr>
          <p:cNvPr id="3" name="Text 1"/>
          <p:cNvSpPr/>
          <p:nvPr/>
        </p:nvSpPr>
        <p:spPr>
          <a:xfrm>
            <a:off x="274320" y="0"/>
            <a:ext cx="8686800" cy="47548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References</a:t>
            </a:r>
            <a:endParaRPr lang="en-US" sz="1600" dirty="0"/>
          </a:p>
        </p:txBody>
      </p:sp>
      <p:sp>
        <p:nvSpPr>
          <p:cNvPr id="4" name="Text 2"/>
          <p:cNvSpPr/>
          <p:nvPr/>
        </p:nvSpPr>
        <p:spPr>
          <a:xfrm>
            <a:off x="274320" y="4901184"/>
            <a:ext cx="6858000" cy="182880"/>
          </a:xfrm>
          <a:prstGeom prst="rect">
            <a:avLst/>
          </a:prstGeom>
          <a:noFill/>
          <a:ln/>
        </p:spPr>
        <p:txBody>
          <a:bodyPr wrap="square" rtlCol="0" anchor="ctr"/>
          <a:lstStyle/>
          <a:p>
            <a:pPr marL="0" indent="0">
              <a:buNone/>
            </a:pPr>
            <a:r>
              <a:rPr lang="en-US" sz="750" dirty="0">
                <a:solidFill>
                  <a:srgbClr val="718096"/>
                </a:solidFill>
                <a:latin typeface="Calibri" pitchFamily="34" charset="0"/>
                <a:ea typeface="Calibri" pitchFamily="34" charset="-122"/>
                <a:cs typeface="Calibri" pitchFamily="34" charset="-120"/>
              </a:rPr>
              <a:t>Kazi, Eviston, Rubiano  ·  BSE Masters 2026</a:t>
            </a:r>
            <a:endParaRPr lang="en-US" sz="750" dirty="0"/>
          </a:p>
        </p:txBody>
      </p:sp>
      <p:sp>
        <p:nvSpPr>
          <p:cNvPr id="5" name="Text 3"/>
          <p:cNvSpPr/>
          <p:nvPr/>
        </p:nvSpPr>
        <p:spPr>
          <a:xfrm>
            <a:off x="8046720" y="4901184"/>
            <a:ext cx="914400" cy="182880"/>
          </a:xfrm>
          <a:prstGeom prst="rect">
            <a:avLst/>
          </a:prstGeom>
          <a:noFill/>
          <a:ln/>
        </p:spPr>
        <p:txBody>
          <a:bodyPr wrap="square" rtlCol="0" anchor="ctr"/>
          <a:lstStyle/>
          <a:p>
            <a:pPr marL="0" indent="0" algn="r">
              <a:buNone/>
            </a:pPr>
            <a:r>
              <a:rPr lang="en-US" sz="750" dirty="0">
                <a:solidFill>
                  <a:srgbClr val="718096"/>
                </a:solidFill>
                <a:latin typeface="Calibri" pitchFamily="34" charset="0"/>
                <a:ea typeface="Calibri" pitchFamily="34" charset="-122"/>
                <a:cs typeface="Calibri" pitchFamily="34" charset="-120"/>
              </a:rPr>
              <a:t>12 / 12</a:t>
            </a:r>
            <a:endParaRPr lang="en-US" sz="750" dirty="0"/>
          </a:p>
        </p:txBody>
      </p:sp>
      <p:sp>
        <p:nvSpPr>
          <p:cNvPr id="6" name="Text 4"/>
          <p:cNvSpPr/>
          <p:nvPr/>
        </p:nvSpPr>
        <p:spPr>
          <a:xfrm>
            <a:off x="274320" y="594360"/>
            <a:ext cx="4160520" cy="4206240"/>
          </a:xfrm>
          <a:prstGeom prst="rect">
            <a:avLst/>
          </a:prstGeom>
          <a:noFill/>
          <a:ln/>
        </p:spPr>
        <p:txBody>
          <a:bodyPr wrap="square" rtlCol="0" anchor="t"/>
          <a:lstStyle/>
          <a:p>
            <a:pPr marL="0" indent="0">
              <a:spcAft>
                <a:spcPts val="500"/>
              </a:spcAft>
              <a:buNone/>
            </a:pPr>
            <a:r>
              <a:rPr lang="en-US" sz="850" dirty="0">
                <a:solidFill>
                  <a:srgbClr val="1A202C"/>
                </a:solidFill>
                <a:latin typeface="Calibri" pitchFamily="34" charset="0"/>
                <a:ea typeface="Calibri" pitchFamily="34" charset="-122"/>
                <a:cs typeface="Calibri" pitchFamily="34" charset="-120"/>
              </a:rPr>
              <a:t>1.  Baker, S.R., Bloom, N., &amp; Davis, S.J. (2016). Measuring economic policy uncertainty. Quarterly Journal of Economics, 131(4), 1593–1636.
2.  Bernoth, K. (2025). Dovish coos or hawkish screech? Measuring ECB communication using large language models. DIW Berlin Discussion Paper 2137.
3.  Bank of England (2025). Using large language models to measure monetary policy communication. Staff Working Paper 1127.
4.  Ash, E., &amp; Hansen, S. (2023). Text algorithms in economics. Annual Review of Economics, 15, 659–688.
5.  Hansen, S., &amp; Kazinnik, S. (2024). Can large language models extract information usable in financial markets? Journal of Finance (forthcoming).
6.  Istrefi, K., &amp; Piloiu, A. (2014). Economic policy uncertainty and inflation expectations. Banque de France Working Paper 511.</a:t>
            </a:r>
            <a:endParaRPr lang="en-US" sz="850" dirty="0"/>
          </a:p>
        </p:txBody>
      </p:sp>
      <p:sp>
        <p:nvSpPr>
          <p:cNvPr id="7" name="Text 5"/>
          <p:cNvSpPr/>
          <p:nvPr/>
        </p:nvSpPr>
        <p:spPr>
          <a:xfrm>
            <a:off x="4663440" y="594360"/>
            <a:ext cx="4206240" cy="4206240"/>
          </a:xfrm>
          <a:prstGeom prst="rect">
            <a:avLst/>
          </a:prstGeom>
          <a:noFill/>
          <a:ln/>
        </p:spPr>
        <p:txBody>
          <a:bodyPr wrap="square" rtlCol="0" anchor="t"/>
          <a:lstStyle/>
          <a:p>
            <a:pPr marL="0" indent="0">
              <a:spcAft>
                <a:spcPts val="500"/>
              </a:spcAft>
              <a:buNone/>
            </a:pPr>
            <a:r>
              <a:rPr lang="en-US" sz="850" dirty="0">
                <a:solidFill>
                  <a:srgbClr val="1A202C"/>
                </a:solidFill>
                <a:latin typeface="Calibri" pitchFamily="34" charset="0"/>
                <a:ea typeface="Calibri" pitchFamily="34" charset="-122"/>
                <a:cs typeface="Calibri" pitchFamily="34" charset="-120"/>
              </a:rPr>
              <a:t>1.  Jordà, Ò. (2005). Estimation and inference of impulse responses by local projections. American Economic Review, 95(1), 161–182.
2.  Mertens, K., &amp; Ravn, M.O. (2013). The dynamic effects of personal and corporate income tax changes. American Economic Review, 103(4), 1212–1247.
3.  Gertler, M., &amp; Karadi, P. (2015). Monetary policy surprises, credit costs, and economic activity. AEJ: Macroeconomics, 7(1), 44–76.
4.  Montiel Olea, J.L., &amp; Plagborg-Møller, M. (2021). Local projection inference is simpler and more robust than you think. Econometrica, 89(4), 1789–1823.
5.  Primiceri, G.E. (2005). Time varying structural vector autoregressions and monetary policy. Review of Economic Studies, 72(3), 821–852.
6.  Gentzkow, M., Kelly, B., &amp; Taddy, M. (2019). Text as data. Journal of Economic Literature, 57(3), 535–574.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55</TotalTime>
  <Words>2132</Words>
  <Application>Microsoft Macintosh PowerPoint</Application>
  <PresentationFormat>On-screen Show (16:9)</PresentationFormat>
  <Paragraphs>223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Fiscal Hawkishness and Inflation Expectations in Argentina (2015–2026)</dc:title>
  <dc:subject>PptxGenJS Presentation</dc:subject>
  <dc:creator>Kazi, Eviston, Rubiano</dc:creator>
  <cp:lastModifiedBy>Rayyaan Kazi</cp:lastModifiedBy>
  <cp:revision>2</cp:revision>
  <dcterms:created xsi:type="dcterms:W3CDTF">2026-05-04T08:54:47Z</dcterms:created>
  <dcterms:modified xsi:type="dcterms:W3CDTF">2026-05-04T09:54:24Z</dcterms:modified>
</cp:coreProperties>
</file>